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3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4.xml" ContentType="application/vnd.openxmlformats-officedocument.presentationml.notesSlid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5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6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7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8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5.xml" ContentType="application/vnd.openxmlformats-officedocument.presentationml.notesSlide+xml"/>
  <Override PartName="/ppt/charts/chart29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0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3" r:id="rId9"/>
    <p:sldId id="270" r:id="rId10"/>
    <p:sldId id="271" r:id="rId11"/>
    <p:sldId id="272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307"/>
    <a:srgbClr val="8B0000"/>
    <a:srgbClr val="004225"/>
    <a:srgbClr val="9CC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6"/>
    <p:restoredTop sz="96371"/>
  </p:normalViewPr>
  <p:slideViewPr>
    <p:cSldViewPr snapToGrid="0" showGuides="1">
      <p:cViewPr>
        <p:scale>
          <a:sx n="62" d="100"/>
          <a:sy n="62" d="100"/>
        </p:scale>
        <p:origin x="1672" y="16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2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3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harry/Library/Containers/com.microsoft.Excel/Data/Library/Application%20Support/Microsoft/Octupus_Dati%20(version%201).xlsb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4C-AE48-BDBA-1A21C28254D6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4C-AE48-BDBA-1A21C28254D6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4C-AE48-BDBA-1A21C28254D6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24C-AE48-BDBA-1A21C28254D6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24C-AE48-BDBA-1A21C28254D6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24C-AE48-BDBA-1A21C2825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POWERPOINT!$E$2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8B0000"/>
            </a:solidFill>
            <a:ln>
              <a:noFill/>
            </a:ln>
            <a:effectLst/>
          </c:spPr>
          <c:invertIfNegative val="0"/>
          <c:cat>
            <c:strRef>
              <c:f>(POWERPOINT!$A$3,POWERPOINT!$A$4,POWERPOINT!$A$5,POWERPOINT!$A$6,POWERPOINT!$A$7)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(POWERPOINT!$E$3,POWERPOINT!$E$4,POWERPOINT!$E$5,POWERPOINT!$E$6,POWERPOINT!$E$7)</c:f>
              <c:numCache>
                <c:formatCode>_-* #,##0\ "€"_-;\-* #,##0\ "€"_-;_-* "-"??\ "€"_-;_-@_-</c:formatCode>
                <c:ptCount val="5"/>
                <c:pt idx="0">
                  <c:v>-6421</c:v>
                </c:pt>
                <c:pt idx="1">
                  <c:v>-5045.8999999999996</c:v>
                </c:pt>
                <c:pt idx="2">
                  <c:v>-3249</c:v>
                </c:pt>
                <c:pt idx="3">
                  <c:v>-3051</c:v>
                </c:pt>
                <c:pt idx="4">
                  <c:v>-1849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FF-5A4D-90C6-A58EF9A1F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8564160"/>
        <c:axId val="1208565888"/>
      </c:barChart>
      <c:catAx>
        <c:axId val="120856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08565888"/>
        <c:crosses val="autoZero"/>
        <c:auto val="1"/>
        <c:lblAlgn val="ctr"/>
        <c:lblOffset val="100"/>
        <c:noMultiLvlLbl val="0"/>
      </c:catAx>
      <c:valAx>
        <c:axId val="12085658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0"/>
        <c:majorTickMark val="none"/>
        <c:minorTickMark val="none"/>
        <c:tickLblPos val="nextTo"/>
        <c:crossAx val="120856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EB-3F4B-A59F-1444B36D3D97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EB-3F4B-A59F-1444B36D3D97}"/>
              </c:ext>
            </c:extLst>
          </c:dPt>
          <c:val>
            <c:numRef>
              <c:f>(POWERPOINT!$C$9,POWERPOINT!$C$10)</c:f>
              <c:numCache>
                <c:formatCode>0%</c:formatCode>
                <c:ptCount val="2"/>
                <c:pt idx="0">
                  <c:v>0.73445736486577951</c:v>
                </c:pt>
                <c:pt idx="1">
                  <c:v>0.26554263513422049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EB-3F4B-A59F-1444B36D3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27355521740709"/>
          <c:y val="0.18600277777777777"/>
          <c:w val="0.69116277777777779"/>
          <c:h val="0.69116277777777779"/>
        </c:manualLayout>
      </c:layout>
      <c:doughnut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CB-E145-90AA-D57F1B535DC8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CB-E145-90AA-D57F1B535DC8}"/>
              </c:ext>
            </c:extLst>
          </c:dPt>
          <c:val>
            <c:numRef>
              <c:f>POWERPOINT!$D$9:$D$10</c:f>
              <c:numCache>
                <c:formatCode>0%</c:formatCode>
                <c:ptCount val="2"/>
                <c:pt idx="0">
                  <c:v>0.85014024036728875</c:v>
                </c:pt>
                <c:pt idx="1">
                  <c:v>0.14985975963271125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CB-E145-90AA-D57F1B535D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FEE-F94D-8FCD-B68513CED41D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EE-F94D-8FCD-B68513CED41D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FEE-F94D-8FCD-B68513CED41D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FEE-F94D-8FCD-B68513CED41D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FEE-F94D-8FCD-B68513CED41D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8FEE-F94D-8FCD-B68513CED4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POWERPOINT!$E$2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8B0000"/>
            </a:solidFill>
            <a:ln>
              <a:noFill/>
            </a:ln>
            <a:effectLst/>
          </c:spPr>
          <c:invertIfNegative val="0"/>
          <c:cat>
            <c:strRef>
              <c:f>(POWERPOINT!$A$3,POWERPOINT!$A$4,POWERPOINT!$A$5,POWERPOINT!$A$6,POWERPOINT!$A$7)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(POWERPOINT!$E$3,POWERPOINT!$E$4,POWERPOINT!$E$5,POWERPOINT!$E$6,POWERPOINT!$E$7)</c:f>
              <c:numCache>
                <c:formatCode>_-* #,##0\ "€"_-;\-* #,##0\ "€"_-;_-* "-"??\ "€"_-;_-@_-</c:formatCode>
                <c:ptCount val="5"/>
                <c:pt idx="0">
                  <c:v>-6421</c:v>
                </c:pt>
                <c:pt idx="1">
                  <c:v>-5045.8999999999996</c:v>
                </c:pt>
                <c:pt idx="2">
                  <c:v>-3249</c:v>
                </c:pt>
                <c:pt idx="3">
                  <c:v>-3051</c:v>
                </c:pt>
                <c:pt idx="4">
                  <c:v>-1849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67-214C-BC66-BF389492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8564160"/>
        <c:axId val="1208565888"/>
      </c:barChart>
      <c:catAx>
        <c:axId val="120856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08565888"/>
        <c:crosses val="autoZero"/>
        <c:auto val="1"/>
        <c:lblAlgn val="ctr"/>
        <c:lblOffset val="100"/>
        <c:noMultiLvlLbl val="0"/>
      </c:catAx>
      <c:valAx>
        <c:axId val="12085658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0"/>
        <c:majorTickMark val="none"/>
        <c:minorTickMark val="none"/>
        <c:tickLblPos val="nextTo"/>
        <c:crossAx val="120856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54-3D45-9AC2-FE5A34CA05D3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54-3D45-9AC2-FE5A34CA05D3}"/>
              </c:ext>
            </c:extLst>
          </c:dPt>
          <c:val>
            <c:numRef>
              <c:f>(POWERPOINT!$C$9,POWERPOINT!$C$10)</c:f>
              <c:numCache>
                <c:formatCode>0%</c:formatCode>
                <c:ptCount val="2"/>
                <c:pt idx="0">
                  <c:v>0.73445736486577951</c:v>
                </c:pt>
                <c:pt idx="1">
                  <c:v>0.26554263513422049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54-3D45-9AC2-FE5A34CA0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27355521740709"/>
          <c:y val="0.18600277777777777"/>
          <c:w val="0.69116277777777779"/>
          <c:h val="0.69116277777777779"/>
        </c:manualLayout>
      </c:layout>
      <c:doughnut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941-B948-B5C6-E9499837D624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941-B948-B5C6-E9499837D624}"/>
              </c:ext>
            </c:extLst>
          </c:dPt>
          <c:val>
            <c:numRef>
              <c:f>POWERPOINT!$D$9:$D$10</c:f>
              <c:numCache>
                <c:formatCode>0%</c:formatCode>
                <c:ptCount val="2"/>
                <c:pt idx="0">
                  <c:v>0.85014024036728875</c:v>
                </c:pt>
                <c:pt idx="1">
                  <c:v>0.14985975963271125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41-B948-B5C6-E9499837D6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4C-294F-A0F4-0B98D3982E3E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4C-294F-A0F4-0B98D3982E3E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54C-294F-A0F4-0B98D3982E3E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54C-294F-A0F4-0B98D3982E3E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54C-294F-A0F4-0B98D3982E3E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54C-294F-A0F4-0B98D3982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POWERPOINT!$E$2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8B0000"/>
            </a:solidFill>
            <a:ln>
              <a:noFill/>
            </a:ln>
            <a:effectLst/>
          </c:spPr>
          <c:invertIfNegative val="0"/>
          <c:cat>
            <c:strRef>
              <c:f>(POWERPOINT!$A$3,POWERPOINT!$A$4,POWERPOINT!$A$5,POWERPOINT!$A$6,POWERPOINT!$A$7)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(POWERPOINT!$E$3,POWERPOINT!$E$4,POWERPOINT!$E$5,POWERPOINT!$E$6,POWERPOINT!$E$7)</c:f>
              <c:numCache>
                <c:formatCode>_-* #,##0\ "€"_-;\-* #,##0\ "€"_-;_-* "-"??\ "€"_-;_-@_-</c:formatCode>
                <c:ptCount val="5"/>
                <c:pt idx="0">
                  <c:v>-6421</c:v>
                </c:pt>
                <c:pt idx="1">
                  <c:v>-5045.8999999999996</c:v>
                </c:pt>
                <c:pt idx="2">
                  <c:v>-3249</c:v>
                </c:pt>
                <c:pt idx="3">
                  <c:v>-3051</c:v>
                </c:pt>
                <c:pt idx="4">
                  <c:v>-1849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2-E541-BB6C-12EB0D604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8564160"/>
        <c:axId val="1208565888"/>
      </c:barChart>
      <c:catAx>
        <c:axId val="120856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08565888"/>
        <c:crosses val="autoZero"/>
        <c:auto val="1"/>
        <c:lblAlgn val="ctr"/>
        <c:lblOffset val="100"/>
        <c:noMultiLvlLbl val="0"/>
      </c:catAx>
      <c:valAx>
        <c:axId val="12085658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0"/>
        <c:majorTickMark val="none"/>
        <c:minorTickMark val="none"/>
        <c:tickLblPos val="nextTo"/>
        <c:crossAx val="120856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4B-EA4C-9E32-B0C3306ED9A3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4B-EA4C-9E32-B0C3306ED9A3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4B-EA4C-9E32-B0C3306ED9A3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4B-EA4C-9E32-B0C3306ED9A3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B4B-EA4C-9E32-B0C3306ED9A3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B4B-EA4C-9E32-B0C3306ED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E3-EF40-8E1B-0F538D7634B2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CE3-EF40-8E1B-0F538D7634B2}"/>
              </c:ext>
            </c:extLst>
          </c:dPt>
          <c:val>
            <c:numRef>
              <c:f>(POWERPOINT!$C$9,POWERPOINT!$C$10)</c:f>
              <c:numCache>
                <c:formatCode>0%</c:formatCode>
                <c:ptCount val="2"/>
                <c:pt idx="0">
                  <c:v>0.73445736486577951</c:v>
                </c:pt>
                <c:pt idx="1">
                  <c:v>0.26554263513422049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E3-EF40-8E1B-0F538D763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27355521740709"/>
          <c:y val="0.18600277777777777"/>
          <c:w val="0.69116277777777779"/>
          <c:h val="0.69116277777777779"/>
        </c:manualLayout>
      </c:layout>
      <c:doughnut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C6E0D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81-A54B-B049-C57EAF66B516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81-A54B-B049-C57EAF66B516}"/>
              </c:ext>
            </c:extLst>
          </c:dPt>
          <c:val>
            <c:numRef>
              <c:f>POWERPOINT!$D$9:$D$10</c:f>
              <c:numCache>
                <c:formatCode>0%</c:formatCode>
                <c:ptCount val="2"/>
                <c:pt idx="0">
                  <c:v>0.85014024036728875</c:v>
                </c:pt>
                <c:pt idx="1">
                  <c:v>0.14985975963271125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81-A54B-B049-C57EAF66B5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4EA-F648-832D-D791B8BF7049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4EA-F648-832D-D791B8BF7049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4EA-F648-832D-D791B8BF7049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4EA-F648-832D-D791B8BF7049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64EA-F648-832D-D791B8BF7049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64EA-F648-832D-D791B8BF7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POWERPOINT!$B$2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>
              <a:solidFill>
                <a:srgbClr val="FDB1BA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4D-B543-BB8A-A63FA667D16F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4D-B543-BB8A-A63FA667D16F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4D-B543-BB8A-A63FA667D16F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DB1BA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A4D-B543-BB8A-A63FA667D16F}"/>
              </c:ext>
            </c:extLst>
          </c:dPt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POWERPOINT!$B$3:$B$7</c:f>
              <c:numCache>
                <c:formatCode>_-* #,##0\ "€"_-;\-* #,##0\ "€"_-;_-* "-"??\ "€"_-;_-@_-</c:formatCode>
                <c:ptCount val="5"/>
                <c:pt idx="0">
                  <c:v>8963</c:v>
                </c:pt>
                <c:pt idx="1">
                  <c:v>14580.1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A4D-B543-BB8A-A63FA667D16F}"/>
            </c:ext>
          </c:extLst>
        </c:ser>
        <c:ser>
          <c:idx val="1"/>
          <c:order val="1"/>
          <c:tx>
            <c:strRef>
              <c:f>POWERPOINT!$C$2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POWERPOINT!$A$3:$A$7</c:f>
              <c:strCache>
                <c:ptCount val="5"/>
                <c:pt idx="0">
                  <c:v> W27 </c:v>
                </c:pt>
                <c:pt idx="1">
                  <c:v> W28 </c:v>
                </c:pt>
                <c:pt idx="2">
                  <c:v> W29 </c:v>
                </c:pt>
                <c:pt idx="3">
                  <c:v> W30 </c:v>
                </c:pt>
                <c:pt idx="4">
                  <c:v> W31 </c:v>
                </c:pt>
              </c:strCache>
            </c:strRef>
          </c:cat>
          <c:val>
            <c:numRef>
              <c:f>POWERPOINT!$C$3:$C$7</c:f>
              <c:numCache>
                <c:formatCode>_-* #,##0\ "€"_-;\-* #,##0\ "€"_-;_-* "-"??\ "€"_-;_-@_-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A4D-B543-BB8A-A63FA667D1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2089168"/>
        <c:axId val="1377039600"/>
      </c:lineChart>
      <c:catAx>
        <c:axId val="632089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7039600"/>
        <c:crosses val="autoZero"/>
        <c:auto val="1"/>
        <c:lblAlgn val="ctr"/>
        <c:lblOffset val="100"/>
        <c:noMultiLvlLbl val="0"/>
      </c:catAx>
      <c:valAx>
        <c:axId val="13770396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crossAx val="6320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676800000000004E-2"/>
          <c:y val="0.16714200000000001"/>
          <c:w val="0.90058300000000002"/>
          <c:h val="0.7472339999999999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 iV</c:v>
                </c:pt>
              </c:strCache>
            </c:strRef>
          </c:tx>
          <c:spPr>
            <a:ln w="25400" cap="flat">
              <a:solidFill>
                <a:srgbClr val="FDB1BA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strRef>
              <c:f>Sheet1!$B$1:$F$1</c:f>
              <c:strCache>
                <c:ptCount val="5"/>
                <c:pt idx="0">
                  <c:v>Week 27</c:v>
                </c:pt>
                <c:pt idx="1">
                  <c:v>Week 28</c:v>
                </c:pt>
                <c:pt idx="2">
                  <c:v>Week 29</c:v>
                </c:pt>
                <c:pt idx="3">
                  <c:v>Week 30</c:v>
                </c:pt>
                <c:pt idx="4">
                  <c:v>Week 31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8963</c:v>
                </c:pt>
                <c:pt idx="1">
                  <c:v>14580</c:v>
                </c:pt>
                <c:pt idx="2">
                  <c:v>12641</c:v>
                </c:pt>
                <c:pt idx="3">
                  <c:v>12364</c:v>
                </c:pt>
                <c:pt idx="4">
                  <c:v>5707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4C-3B46-A0D3-EC0822464C6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Budget</c:v>
                </c:pt>
              </c:strCache>
            </c:strRef>
          </c:tx>
          <c:spPr>
            <a:ln w="25400" cap="flat">
              <a:solidFill>
                <a:srgbClr val="C6E0D7"/>
              </a:solidFill>
              <a:prstDash val="solid"/>
              <a:miter lim="800000"/>
            </a:ln>
            <a:effectLst/>
          </c:spPr>
          <c:marker>
            <c:symbol val="none"/>
          </c:marker>
          <c:cat>
            <c:strRef>
              <c:f>Sheet1!$B$1:$F$1</c:f>
              <c:strCache>
                <c:ptCount val="5"/>
                <c:pt idx="0">
                  <c:v>Week 27</c:v>
                </c:pt>
                <c:pt idx="1">
                  <c:v>Week 28</c:v>
                </c:pt>
                <c:pt idx="2">
                  <c:v>Week 29</c:v>
                </c:pt>
                <c:pt idx="3">
                  <c:v>Week 30</c:v>
                </c:pt>
                <c:pt idx="4">
                  <c:v>Week 31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15384</c:v>
                </c:pt>
                <c:pt idx="1">
                  <c:v>19626</c:v>
                </c:pt>
                <c:pt idx="2">
                  <c:v>15890</c:v>
                </c:pt>
                <c:pt idx="3">
                  <c:v>15415</c:v>
                </c:pt>
                <c:pt idx="4">
                  <c:v>7556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4C-3B46-A0D3-EC0822464C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3175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Aptos"/>
              </a:defRPr>
            </a:pPr>
            <a:endParaRPr lang="it-IT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888888"/>
              </a:solidFill>
              <a:prstDash val="solid"/>
              <a:miter lim="800000"/>
            </a:ln>
          </c:spPr>
        </c:majorGridlines>
        <c:numFmt formatCode="General" sourceLinked="0"/>
        <c:majorTickMark val="out"/>
        <c:minorTickMark val="none"/>
        <c:tickLblPos val="none"/>
        <c:spPr>
          <a:ln w="3175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Aptos"/>
              </a:defRPr>
            </a:pPr>
            <a:endParaRPr lang="it-IT"/>
          </a:p>
        </c:txPr>
        <c:crossAx val="2094734552"/>
        <c:crosses val="autoZero"/>
        <c:crossBetween val="midCat"/>
        <c:majorUnit val="5000"/>
        <c:minorUnit val="2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CALCOLO'!$D$43</c:f>
              <c:strCache>
                <c:ptCount val="1"/>
                <c:pt idx="0">
                  <c:v>Fatturato (€)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CALCOLO'!$D$44:$D$48</c:f>
              <c:numCache>
                <c:formatCode>_("€"* #,##0.00_);_("€"* \(#,##0.00\);_("€"* "-"??_);_(@_)</c:formatCode>
                <c:ptCount val="5"/>
                <c:pt idx="0">
                  <c:v>13641.73</c:v>
                </c:pt>
                <c:pt idx="1">
                  <c:v>12076.31</c:v>
                </c:pt>
                <c:pt idx="2">
                  <c:v>10933.32</c:v>
                </c:pt>
                <c:pt idx="3">
                  <c:v>10840.4</c:v>
                </c:pt>
                <c:pt idx="4">
                  <c:v>6763.15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FC-5345-BB6C-323500831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CALCOLO'!$L$43</c:f>
              <c:strCache>
                <c:ptCount val="1"/>
                <c:pt idx="0">
                  <c:v>Target (€)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CALCOLO'!$L$44:$L$48</c:f>
              <c:numCache>
                <c:formatCode>_("€"* #,##0.00_);_("€"* \(#,##0.00\);_("€"* "-"??_);_(@_)</c:formatCode>
                <c:ptCount val="5"/>
                <c:pt idx="0">
                  <c:v>10193.346727272727</c:v>
                </c:pt>
                <c:pt idx="1">
                  <c:v>9316.4996969696967</c:v>
                </c:pt>
                <c:pt idx="2">
                  <c:v>11727.829030303032</c:v>
                </c:pt>
                <c:pt idx="3">
                  <c:v>17098.517090909092</c:v>
                </c:pt>
                <c:pt idx="4">
                  <c:v>5918.7174545454545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FC-5345-BB6C-323500831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out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CALCOLO'!$D$43</c:f>
              <c:strCache>
                <c:ptCount val="1"/>
                <c:pt idx="0">
                  <c:v>Fatturato (€)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CALCOLO'!$D$44:$D$48</c:f>
              <c:numCache>
                <c:formatCode>_("€"* #,##0.00_);_("€"* \(#,##0.00\);_("€"* "-"??_);_(@_)</c:formatCode>
                <c:ptCount val="5"/>
                <c:pt idx="0">
                  <c:v>13641.73</c:v>
                </c:pt>
                <c:pt idx="1">
                  <c:v>12076.31</c:v>
                </c:pt>
                <c:pt idx="2">
                  <c:v>10933.32</c:v>
                </c:pt>
                <c:pt idx="3">
                  <c:v>10840.4</c:v>
                </c:pt>
                <c:pt idx="4">
                  <c:v>6763.15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F3-494D-A76E-B3CED6C57E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CALCOLO'!$L$43</c:f>
              <c:strCache>
                <c:ptCount val="1"/>
                <c:pt idx="0">
                  <c:v>Target (€)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CALCOLO'!$L$44:$L$48</c:f>
              <c:numCache>
                <c:formatCode>_("€"* #,##0.00_);_("€"* \(#,##0.00\);_("€"* "-"??_);_(@_)</c:formatCode>
                <c:ptCount val="5"/>
                <c:pt idx="0">
                  <c:v>10193.346727272727</c:v>
                </c:pt>
                <c:pt idx="1">
                  <c:v>9316.4996969696967</c:v>
                </c:pt>
                <c:pt idx="2">
                  <c:v>11727.829030303032</c:v>
                </c:pt>
                <c:pt idx="3">
                  <c:v>17098.517090909092</c:v>
                </c:pt>
                <c:pt idx="4">
                  <c:v>5918.7174545454545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F3-494D-A76E-B3CED6C57E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out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CALCOLO'!$N$43</c:f>
              <c:strCache>
                <c:ptCount val="1"/>
                <c:pt idx="0">
                  <c:v>Var. Budget (%)</c:v>
                </c:pt>
              </c:strCache>
            </c:strRef>
          </c:tx>
          <c:spPr>
            <a:solidFill>
              <a:srgbClr val="004225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CALCOLO'!$N$44:$N$48</c:f>
              <c:numCache>
                <c:formatCode>0.0%</c:formatCode>
                <c:ptCount val="5"/>
                <c:pt idx="0">
                  <c:v>0.25278196187193802</c:v>
                </c:pt>
                <c:pt idx="1">
                  <c:v>0.22853092567434116</c:v>
                </c:pt>
                <c:pt idx="2">
                  <c:v>-7.2668597489420603E-2</c:v>
                </c:pt>
                <c:pt idx="3">
                  <c:v>-0.57729577238008678</c:v>
                </c:pt>
                <c:pt idx="4">
                  <c:v>0.12485787620480769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8B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0A62-D947-86CC-1CC8FDA55A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62140512"/>
        <c:axId val="462142224"/>
      </c:bar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CALCOLO'!$D$43</c:f>
              <c:strCache>
                <c:ptCount val="1"/>
                <c:pt idx="0">
                  <c:v>Fatturato (€)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CALCOLO'!$D$44:$D$48</c:f>
              <c:numCache>
                <c:formatCode>_("€"* #,##0.00_);_("€"* \(#,##0.00\);_("€"* "-"??_);_(@_)</c:formatCode>
                <c:ptCount val="5"/>
                <c:pt idx="0">
                  <c:v>13641.73</c:v>
                </c:pt>
                <c:pt idx="1">
                  <c:v>12076.31</c:v>
                </c:pt>
                <c:pt idx="2">
                  <c:v>10933.32</c:v>
                </c:pt>
                <c:pt idx="3">
                  <c:v>10840.4</c:v>
                </c:pt>
                <c:pt idx="4">
                  <c:v>6763.15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B-7246-B6AE-D785DEC2C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CALCOLO'!$L$43</c:f>
              <c:strCache>
                <c:ptCount val="1"/>
                <c:pt idx="0">
                  <c:v>Target (€)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CALCOLO'!$L$44:$L$48</c:f>
              <c:numCache>
                <c:formatCode>_("€"* #,##0.00_);_("€"* \(#,##0.00\);_("€"* "-"??_);_(@_)</c:formatCode>
                <c:ptCount val="5"/>
                <c:pt idx="0">
                  <c:v>10193.346727272727</c:v>
                </c:pt>
                <c:pt idx="1">
                  <c:v>9316.4996969696967</c:v>
                </c:pt>
                <c:pt idx="2">
                  <c:v>11727.829030303032</c:v>
                </c:pt>
                <c:pt idx="3">
                  <c:v>17098.517090909092</c:v>
                </c:pt>
                <c:pt idx="4">
                  <c:v>5918.7174545454545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1B-7246-B6AE-D785DEC2C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out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CALCOLO'!$N$43</c:f>
              <c:strCache>
                <c:ptCount val="1"/>
                <c:pt idx="0">
                  <c:v>Var. Budget (%)</c:v>
                </c:pt>
              </c:strCache>
            </c:strRef>
          </c:tx>
          <c:spPr>
            <a:solidFill>
              <a:srgbClr val="004225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CALCOLO'!$N$44:$N$48</c:f>
              <c:numCache>
                <c:formatCode>0.0%</c:formatCode>
                <c:ptCount val="5"/>
                <c:pt idx="0">
                  <c:v>0.25278196187193802</c:v>
                </c:pt>
                <c:pt idx="1">
                  <c:v>0.22853092567434116</c:v>
                </c:pt>
                <c:pt idx="2">
                  <c:v>-7.2668597489420603E-2</c:v>
                </c:pt>
                <c:pt idx="3">
                  <c:v>-0.57729577238008678</c:v>
                </c:pt>
                <c:pt idx="4">
                  <c:v>0.12485787620480769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8B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22B6-704E-8893-A1200149D7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62140512"/>
        <c:axId val="462142224"/>
      </c:bar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CALCOLO'!$E$43</c:f>
              <c:strCache>
                <c:ptCount val="1"/>
                <c:pt idx="0">
                  <c:v> Scontrino Medio (€) 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31-934D-9229-2AC56AD246F5}"/>
              </c:ext>
            </c:extLst>
          </c:dPt>
          <c:dPt>
            <c:idx val="1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31-934D-9229-2AC56AD246F5}"/>
              </c:ext>
            </c:extLst>
          </c:dPt>
          <c:dPt>
            <c:idx val="2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31-934D-9229-2AC56AD246F5}"/>
              </c:ext>
            </c:extLst>
          </c:dPt>
          <c:dPt>
            <c:idx val="3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31-934D-9229-2AC56AD246F5}"/>
              </c:ext>
            </c:extLst>
          </c:dPt>
          <c:dPt>
            <c:idx val="4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031-934D-9229-2AC56AD246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CALCOLO'!$E$44:$E$48</c:f>
              <c:numCache>
                <c:formatCode>_("€"* #,##0.00_);_("€"* \(#,##0.00\);_("€"* "-"??_);_(@_)</c:formatCode>
                <c:ptCount val="5"/>
                <c:pt idx="0">
                  <c:v>48.374929078014183</c:v>
                </c:pt>
                <c:pt idx="1">
                  <c:v>53.434999999999995</c:v>
                </c:pt>
                <c:pt idx="2">
                  <c:v>43.9089156626506</c:v>
                </c:pt>
                <c:pt idx="3">
                  <c:v>40.149629629629629</c:v>
                </c:pt>
                <c:pt idx="4">
                  <c:v>42.007142857142853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031-934D-9229-2AC56AD246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CALCOLO'!$F$43</c:f>
              <c:strCache>
                <c:ptCount val="1"/>
                <c:pt idx="0">
                  <c:v> Media Store 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CALCOLO'!$F$44:$F$48</c:f>
              <c:numCache>
                <c:formatCode>_("€"* #,##0.00_);_("€"* \(#,##0.00\);_("€"* "-"??_);_(@_)</c:formatCode>
                <c:ptCount val="5"/>
                <c:pt idx="0">
                  <c:v>45.669116161616166</c:v>
                </c:pt>
                <c:pt idx="1">
                  <c:v>45.669116161616166</c:v>
                </c:pt>
                <c:pt idx="2">
                  <c:v>45.669116161616166</c:v>
                </c:pt>
                <c:pt idx="3">
                  <c:v>45.669116161616166</c:v>
                </c:pt>
                <c:pt idx="4">
                  <c:v>45.669116161616166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031-934D-9229-2AC56AD246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CALCOLO'!$N$43</c:f>
              <c:strCache>
                <c:ptCount val="1"/>
                <c:pt idx="0">
                  <c:v>Var. Budget (%)</c:v>
                </c:pt>
              </c:strCache>
            </c:strRef>
          </c:tx>
          <c:spPr>
            <a:solidFill>
              <a:srgbClr val="004225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CALCOLO'!$N$44:$N$48</c:f>
              <c:numCache>
                <c:formatCode>0.0%</c:formatCode>
                <c:ptCount val="5"/>
                <c:pt idx="0">
                  <c:v>0.25278196187193802</c:v>
                </c:pt>
                <c:pt idx="1">
                  <c:v>0.22853092567434116</c:v>
                </c:pt>
                <c:pt idx="2">
                  <c:v>-7.2668597489420603E-2</c:v>
                </c:pt>
                <c:pt idx="3">
                  <c:v>-0.57729577238008678</c:v>
                </c:pt>
                <c:pt idx="4">
                  <c:v>0.12485787620480769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8B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200D-1F4B-BFEC-DE943960DF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62140512"/>
        <c:axId val="462142224"/>
      </c:bar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CALCOLO'!$G$43</c:f>
              <c:strCache>
                <c:ptCount val="1"/>
                <c:pt idx="0">
                  <c:v> UPT 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CALCOLO'!$G$44:$G$48</c:f>
              <c:numCache>
                <c:formatCode>_(* #,##0.00_);_(* \(#,##0.00\);_(* "-"??_);_(@_)</c:formatCode>
                <c:ptCount val="5"/>
                <c:pt idx="0">
                  <c:v>1.9432624113475176</c:v>
                </c:pt>
                <c:pt idx="1">
                  <c:v>2.1415929203539825</c:v>
                </c:pt>
                <c:pt idx="2">
                  <c:v>1.8995983935742973</c:v>
                </c:pt>
                <c:pt idx="3">
                  <c:v>1.6925925925925926</c:v>
                </c:pt>
                <c:pt idx="4">
                  <c:v>1.7639751552795031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8-D344-98F3-194BE1EA7F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CALCOLO'!$H$43</c:f>
              <c:strCache>
                <c:ptCount val="1"/>
                <c:pt idx="0">
                  <c:v> Media Store 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'Foglio di CALCOLO'!$H$43</c:f>
              <c:strCache>
                <c:ptCount val="1"/>
                <c:pt idx="0">
                  <c:v> Media Store </c:v>
                </c:pt>
              </c:strCache>
            </c:strRef>
          </c:cat>
          <c:val>
            <c:numRef>
              <c:f>'Foglio di CALCOLO'!$H$44:$H$48</c:f>
              <c:numCache>
                <c:formatCode>_("€"* #,##0.00_);_("€"* \(#,##0.00\);_("€"* "-"??_);_(@_)</c:formatCode>
                <c:ptCount val="5"/>
                <c:pt idx="0">
                  <c:v>1.8905723905723906</c:v>
                </c:pt>
                <c:pt idx="1">
                  <c:v>1.8905723905723906</c:v>
                </c:pt>
                <c:pt idx="2">
                  <c:v>1.8905723905723906</c:v>
                </c:pt>
                <c:pt idx="3">
                  <c:v>1.8905723905723906</c:v>
                </c:pt>
                <c:pt idx="4">
                  <c:v>1.8905723905723906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78-D344-98F3-194BE1EA7F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CALCOLO'!$E$43</c:f>
              <c:strCache>
                <c:ptCount val="1"/>
                <c:pt idx="0">
                  <c:v> Scontrino Medio (€) 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9C-D94E-9365-0465158F5FED}"/>
              </c:ext>
            </c:extLst>
          </c:dPt>
          <c:dPt>
            <c:idx val="1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9C-D94E-9365-0465158F5FED}"/>
              </c:ext>
            </c:extLst>
          </c:dPt>
          <c:dPt>
            <c:idx val="2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9C-D94E-9365-0465158F5FED}"/>
              </c:ext>
            </c:extLst>
          </c:dPt>
          <c:dPt>
            <c:idx val="3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29C-D94E-9365-0465158F5FED}"/>
              </c:ext>
            </c:extLst>
          </c:dPt>
          <c:dPt>
            <c:idx val="4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29C-D94E-9365-0465158F5F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CALCOLO'!$E$44:$E$48</c:f>
              <c:numCache>
                <c:formatCode>_("€"* #,##0.00_);_("€"* \(#,##0.00\);_("€"* "-"??_);_(@_)</c:formatCode>
                <c:ptCount val="5"/>
                <c:pt idx="0">
                  <c:v>48.374929078014183</c:v>
                </c:pt>
                <c:pt idx="1">
                  <c:v>53.434999999999995</c:v>
                </c:pt>
                <c:pt idx="2">
                  <c:v>43.9089156626506</c:v>
                </c:pt>
                <c:pt idx="3">
                  <c:v>40.149629629629629</c:v>
                </c:pt>
                <c:pt idx="4">
                  <c:v>42.007142857142853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29C-D94E-9365-0465158F5F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CALCOLO'!$F$43</c:f>
              <c:strCache>
                <c:ptCount val="1"/>
                <c:pt idx="0">
                  <c:v> Media Store 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CALCOLO'!$F$44:$F$48</c:f>
              <c:numCache>
                <c:formatCode>_("€"* #,##0.00_);_("€"* \(#,##0.00\);_("€"* "-"??_);_(@_)</c:formatCode>
                <c:ptCount val="5"/>
                <c:pt idx="0">
                  <c:v>45.669116161616166</c:v>
                </c:pt>
                <c:pt idx="1">
                  <c:v>45.669116161616166</c:v>
                </c:pt>
                <c:pt idx="2">
                  <c:v>45.669116161616166</c:v>
                </c:pt>
                <c:pt idx="3">
                  <c:v>45.669116161616166</c:v>
                </c:pt>
                <c:pt idx="4">
                  <c:v>45.669116161616166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29C-D94E-9365-0465158F5F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CALCOLO'!$E$43</c:f>
              <c:strCache>
                <c:ptCount val="1"/>
                <c:pt idx="0">
                  <c:v> Scontrino Medio (€) 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9E0-A749-9BB0-52330BD89F53}"/>
              </c:ext>
            </c:extLst>
          </c:dPt>
          <c:dPt>
            <c:idx val="1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9E0-A749-9BB0-52330BD89F53}"/>
              </c:ext>
            </c:extLst>
          </c:dPt>
          <c:dPt>
            <c:idx val="2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9E0-A749-9BB0-52330BD89F53}"/>
              </c:ext>
            </c:extLst>
          </c:dPt>
          <c:dPt>
            <c:idx val="3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9E0-A749-9BB0-52330BD89F53}"/>
              </c:ext>
            </c:extLst>
          </c:dPt>
          <c:dPt>
            <c:idx val="4"/>
            <c:invertIfNegative val="0"/>
            <c:bubble3D val="0"/>
            <c:spPr>
              <a:solidFill>
                <a:srgbClr val="FDB1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9E0-A749-9BB0-52330BD89F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CALCOLO'!$E$44:$E$48</c:f>
              <c:numCache>
                <c:formatCode>_("€"* #,##0.00_);_("€"* \(#,##0.00\);_("€"* "-"??_);_(@_)</c:formatCode>
                <c:ptCount val="5"/>
                <c:pt idx="0">
                  <c:v>48.374929078014183</c:v>
                </c:pt>
                <c:pt idx="1">
                  <c:v>53.434999999999995</c:v>
                </c:pt>
                <c:pt idx="2">
                  <c:v>43.9089156626506</c:v>
                </c:pt>
                <c:pt idx="3">
                  <c:v>40.149629629629629</c:v>
                </c:pt>
                <c:pt idx="4">
                  <c:v>42.007142857142853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E0-A749-9BB0-52330BD89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CALCOLO'!$F$43</c:f>
              <c:strCache>
                <c:ptCount val="1"/>
                <c:pt idx="0">
                  <c:v> Media Store 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CALCOLO'!$F$44:$F$48</c:f>
              <c:numCache>
                <c:formatCode>_("€"* #,##0.00_);_("€"* \(#,##0.00\);_("€"* "-"??_);_(@_)</c:formatCode>
                <c:ptCount val="5"/>
                <c:pt idx="0">
                  <c:v>45.669116161616166</c:v>
                </c:pt>
                <c:pt idx="1">
                  <c:v>45.669116161616166</c:v>
                </c:pt>
                <c:pt idx="2">
                  <c:v>45.669116161616166</c:v>
                </c:pt>
                <c:pt idx="3">
                  <c:v>45.669116161616166</c:v>
                </c:pt>
                <c:pt idx="4">
                  <c:v>45.669116161616166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E9E0-A749-9BB0-52330BD89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€&quot;* #,##0.00_);_(&quot;€&quot;* \(#,##0.00\);_(&quot;€&quot;* &quot;-&quot;??_);_(@_)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'Foglio di CALCOLO'!$G$43</c:f>
              <c:strCache>
                <c:ptCount val="1"/>
                <c:pt idx="0">
                  <c:v> UPT </c:v>
                </c:pt>
              </c:strCache>
            </c:strRef>
          </c:tx>
          <c:spPr>
            <a:solidFill>
              <a:srgbClr val="FDB1B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'Foglio di CALCOLO'!$B$44:$B$48</c:f>
              <c:strCache>
                <c:ptCount val="5"/>
                <c:pt idx="0">
                  <c:v>SARA</c:v>
                </c:pt>
                <c:pt idx="1">
                  <c:v>GIULIA</c:v>
                </c:pt>
                <c:pt idx="2">
                  <c:v>FRANCESCA</c:v>
                </c:pt>
                <c:pt idx="3">
                  <c:v>MARCO</c:v>
                </c:pt>
                <c:pt idx="4">
                  <c:v>NICCOLÒ</c:v>
                </c:pt>
              </c:strCache>
            </c:strRef>
          </c:cat>
          <c:val>
            <c:numRef>
              <c:f>'Foglio di CALCOLO'!$G$44:$G$48</c:f>
              <c:numCache>
                <c:formatCode>_(* #,##0.00_);_(* \(#,##0.00\);_(* "-"??_);_(@_)</c:formatCode>
                <c:ptCount val="5"/>
                <c:pt idx="0">
                  <c:v>1.9432624113475176</c:v>
                </c:pt>
                <c:pt idx="1">
                  <c:v>2.1415929203539825</c:v>
                </c:pt>
                <c:pt idx="2">
                  <c:v>1.8995983935742973</c:v>
                </c:pt>
                <c:pt idx="3">
                  <c:v>1.6925925925925926</c:v>
                </c:pt>
                <c:pt idx="4">
                  <c:v>1.7639751552795031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6-FC45-B97A-BA8BFFE789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140512"/>
        <c:axId val="462142224"/>
      </c:barChart>
      <c:lineChart>
        <c:grouping val="standard"/>
        <c:varyColors val="0"/>
        <c:ser>
          <c:idx val="1"/>
          <c:order val="1"/>
          <c:tx>
            <c:strRef>
              <c:f>'Foglio di CALCOLO'!$H$43</c:f>
              <c:strCache>
                <c:ptCount val="1"/>
                <c:pt idx="0">
                  <c:v> Media Store </c:v>
                </c:pt>
              </c:strCache>
            </c:strRef>
          </c:tx>
          <c:spPr>
            <a:ln w="25400" cap="rnd">
              <a:solidFill>
                <a:srgbClr val="C6E0D7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'Foglio di CALCOLO'!$H$43</c:f>
              <c:strCache>
                <c:ptCount val="1"/>
                <c:pt idx="0">
                  <c:v> Media Store </c:v>
                </c:pt>
              </c:strCache>
            </c:strRef>
          </c:cat>
          <c:val>
            <c:numRef>
              <c:f>'Foglio di CALCOLO'!$H$44:$H$48</c:f>
              <c:numCache>
                <c:formatCode>_("€"* #,##0.00_);_("€"* \(#,##0.00\);_("€"* "-"??_);_(@_)</c:formatCode>
                <c:ptCount val="5"/>
                <c:pt idx="0">
                  <c:v>1.8905723905723906</c:v>
                </c:pt>
                <c:pt idx="1">
                  <c:v>1.8905723905723906</c:v>
                </c:pt>
                <c:pt idx="2">
                  <c:v>1.8905723905723906</c:v>
                </c:pt>
                <c:pt idx="3">
                  <c:v>1.8905723905723906</c:v>
                </c:pt>
                <c:pt idx="4">
                  <c:v>1.8905723905723906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D6-FC45-B97A-BA8BFFE789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62140512"/>
        <c:axId val="462142224"/>
      </c:lineChart>
      <c:catAx>
        <c:axId val="46214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it-IT"/>
          </a:p>
        </c:txPr>
        <c:crossAx val="462142224"/>
        <c:crosses val="autoZero"/>
        <c:auto val="1"/>
        <c:lblAlgn val="ctr"/>
        <c:lblOffset val="100"/>
        <c:noMultiLvlLbl val="0"/>
      </c:catAx>
      <c:valAx>
        <c:axId val="462142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crossAx val="462140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066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9970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EA04-34D1-B3FD-B0FF-527CCF2A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C4497B6-821C-D240-50EF-E149B105C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39A06C0-E281-5D4F-9F70-05102C07A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6314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039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34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Testo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Titolo Testo</a:t>
            </a:r>
          </a:p>
        </p:txBody>
      </p:sp>
      <p:sp>
        <p:nvSpPr>
          <p:cNvPr id="1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21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Testo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Titolo Testo</a:t>
            </a:r>
          </a:p>
        </p:txBody>
      </p:sp>
      <p:sp>
        <p:nvSpPr>
          <p:cNvPr id="30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39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olo Testo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48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" name="Segnaposto tes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olo Test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Titolo Testo</a:t>
            </a:r>
          </a:p>
        </p:txBody>
      </p:sp>
      <p:sp>
        <p:nvSpPr>
          <p:cNvPr id="73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4" name="Segnaposto tes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olo Test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Titolo Testo</a:t>
            </a:r>
          </a:p>
        </p:txBody>
      </p:sp>
      <p:sp>
        <p:nvSpPr>
          <p:cNvPr id="83" name="Segnaposto immagine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Titolo Testo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7" Type="http://schemas.openxmlformats.org/officeDocument/2006/relationships/chart" Target="../charts/chart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8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chart" Target="../charts/chart2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1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5.xml"/><Relationship Id="rId3" Type="http://schemas.openxmlformats.org/officeDocument/2006/relationships/slide" Target="slide9.xml"/><Relationship Id="rId7" Type="http://schemas.openxmlformats.org/officeDocument/2006/relationships/chart" Target="../charts/chart2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3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8.xml"/><Relationship Id="rId3" Type="http://schemas.openxmlformats.org/officeDocument/2006/relationships/slide" Target="slide9.xml"/><Relationship Id="rId7" Type="http://schemas.openxmlformats.org/officeDocument/2006/relationships/chart" Target="../charts/chart2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6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slide" Target="slide8.xml"/><Relationship Id="rId7" Type="http://schemas.openxmlformats.org/officeDocument/2006/relationships/chart" Target="../charts/chart2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H1.4"/>
          <p:cNvSpPr txBox="1"/>
          <p:nvPr/>
        </p:nvSpPr>
        <p:spPr>
          <a:xfrm>
            <a:off x="1524000" y="6887909"/>
            <a:ext cx="9144001" cy="1368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algn="ctr" defTabSz="886968">
              <a:lnSpc>
                <a:spcPct val="90000"/>
              </a:lnSpc>
              <a:defRPr sz="4365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dirty="0"/>
              <a:t>Monthly Store Performance</a:t>
            </a:r>
          </a:p>
        </p:txBody>
      </p:sp>
      <p:graphicFrame>
        <p:nvGraphicFramePr>
          <p:cNvPr id="95" name="BORDI"/>
          <p:cNvGraphicFramePr/>
          <p:nvPr>
            <p:extLst>
              <p:ext uri="{D42A27DB-BD31-4B8C-83A1-F6EECF244321}">
                <p14:modId xmlns:p14="http://schemas.microsoft.com/office/powerpoint/2010/main" val="1739549377"/>
              </p:ext>
            </p:extLst>
          </p:nvPr>
        </p:nvGraphicFramePr>
        <p:xfrm>
          <a:off x="2031999" y="2236923"/>
          <a:ext cx="8128000" cy="198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dirty="0"/>
                    </a:p>
                  </a:txBody>
                  <a:tcPr marL="45720" marR="45720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" name="H2.0"/>
          <p:cNvSpPr txBox="1">
            <a:spLocks noGrp="1"/>
          </p:cNvSpPr>
          <p:nvPr>
            <p:ph type="subTitle" sz="quarter" idx="1"/>
          </p:nvPr>
        </p:nvSpPr>
        <p:spPr>
          <a:xfrm>
            <a:off x="4566744" y="4054297"/>
            <a:ext cx="3058511" cy="454955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defTabSz="813816">
              <a:spcBef>
                <a:spcPts val="800"/>
              </a:spcBef>
              <a:defRPr sz="2136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Analisi</a:t>
            </a:r>
            <a:r>
              <a:rPr dirty="0"/>
              <a:t> – </a:t>
            </a:r>
            <a:r>
              <a:rPr dirty="0" err="1"/>
              <a:t>Luglio</a:t>
            </a:r>
            <a:r>
              <a:rPr dirty="0"/>
              <a:t> 2026</a:t>
            </a:r>
          </a:p>
        </p:txBody>
      </p:sp>
      <p:sp>
        <p:nvSpPr>
          <p:cNvPr id="94" name="H1.0"/>
          <p:cNvSpPr txBox="1">
            <a:spLocks noGrp="1"/>
          </p:cNvSpPr>
          <p:nvPr>
            <p:ph type="ctrTitle"/>
          </p:nvPr>
        </p:nvSpPr>
        <p:spPr>
          <a:xfrm>
            <a:off x="1524000" y="2399548"/>
            <a:ext cx="9144000" cy="1831429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5000"/>
              </a:lnSpc>
              <a:defRPr>
                <a:latin typeface="Futura Bold"/>
                <a:ea typeface="Futura Bold"/>
                <a:cs typeface="Futura Bold"/>
                <a:sym typeface="Futura Bold"/>
              </a:defRPr>
            </a:lvl1pPr>
          </a:lstStyle>
          <a:p>
            <a:r>
              <a:rPr dirty="0"/>
              <a:t>OCTUPUS</a:t>
            </a:r>
          </a:p>
        </p:txBody>
      </p:sp>
      <p:sp>
        <p:nvSpPr>
          <p:cNvPr id="6" name="Rettangolo arrotondato">
            <a:extLst>
              <a:ext uri="{FF2B5EF4-FFF2-40B4-BE49-F238E27FC236}">
                <a16:creationId xmlns:a16="http://schemas.microsoft.com/office/drawing/2014/main" id="{9E510074-F164-C9FA-701A-C6580C2FEA8E}"/>
              </a:ext>
            </a:extLst>
          </p:cNvPr>
          <p:cNvSpPr/>
          <p:nvPr/>
        </p:nvSpPr>
        <p:spPr>
          <a:xfrm>
            <a:off x="766271" y="803466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7" name="Rettangolo arrotondato">
            <a:extLst>
              <a:ext uri="{FF2B5EF4-FFF2-40B4-BE49-F238E27FC236}">
                <a16:creationId xmlns:a16="http://schemas.microsoft.com/office/drawing/2014/main" id="{99A53F46-BA6A-B335-6ACD-FFC680475364}"/>
              </a:ext>
            </a:extLst>
          </p:cNvPr>
          <p:cNvSpPr/>
          <p:nvPr/>
        </p:nvSpPr>
        <p:spPr>
          <a:xfrm>
            <a:off x="8885728" y="803466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9" name="PEOPLE ANALYTICS">
            <a:extLst>
              <a:ext uri="{FF2B5EF4-FFF2-40B4-BE49-F238E27FC236}">
                <a16:creationId xmlns:a16="http://schemas.microsoft.com/office/drawing/2014/main" id="{D5042856-3183-9B23-9E98-4741DC34B926}"/>
              </a:ext>
            </a:extLst>
          </p:cNvPr>
          <p:cNvSpPr/>
          <p:nvPr/>
        </p:nvSpPr>
        <p:spPr>
          <a:xfrm>
            <a:off x="8876203" y="8025141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10" name="SCOSTAMENTO…">
            <a:extLst>
              <a:ext uri="{FF2B5EF4-FFF2-40B4-BE49-F238E27FC236}">
                <a16:creationId xmlns:a16="http://schemas.microsoft.com/office/drawing/2014/main" id="{24834397-9EEA-AA13-F5D4-CD5883A6BEA3}"/>
              </a:ext>
            </a:extLst>
          </p:cNvPr>
          <p:cNvSpPr/>
          <p:nvPr/>
        </p:nvSpPr>
        <p:spPr>
          <a:xfrm>
            <a:off x="780559" y="8029189"/>
            <a:ext cx="2540001" cy="3194293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DAL BUDGET</a:t>
            </a:r>
          </a:p>
        </p:txBody>
      </p:sp>
      <p:sp>
        <p:nvSpPr>
          <p:cNvPr id="11" name="€54.257 | 73%">
            <a:extLst>
              <a:ext uri="{FF2B5EF4-FFF2-40B4-BE49-F238E27FC236}">
                <a16:creationId xmlns:a16="http://schemas.microsoft.com/office/drawing/2014/main" id="{231F9DA9-A1D6-EF09-5532-2DD02731C2D3}"/>
              </a:ext>
            </a:extLst>
          </p:cNvPr>
          <p:cNvSpPr/>
          <p:nvPr/>
        </p:nvSpPr>
        <p:spPr>
          <a:xfrm>
            <a:off x="761509" y="904970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12" name="Target Budget: €73.871…">
            <a:extLst>
              <a:ext uri="{FF2B5EF4-FFF2-40B4-BE49-F238E27FC236}">
                <a16:creationId xmlns:a16="http://schemas.microsoft.com/office/drawing/2014/main" id="{336ECC6A-ADEE-F077-747D-AFFFAC999DFE}"/>
              </a:ext>
            </a:extLst>
          </p:cNvPr>
          <p:cNvSpPr/>
          <p:nvPr/>
        </p:nvSpPr>
        <p:spPr>
          <a:xfrm>
            <a:off x="761509" y="982584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14" name="SHARON H.">
            <a:extLst>
              <a:ext uri="{FF2B5EF4-FFF2-40B4-BE49-F238E27FC236}">
                <a16:creationId xmlns:a16="http://schemas.microsoft.com/office/drawing/2014/main" id="{B9161DE6-A98F-7EF6-418D-70075CFFE974}"/>
              </a:ext>
            </a:extLst>
          </p:cNvPr>
          <p:cNvSpPr/>
          <p:nvPr/>
        </p:nvSpPr>
        <p:spPr>
          <a:xfrm>
            <a:off x="8886528" y="904970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S</a:t>
            </a:r>
            <a:r>
              <a:rPr lang="it-IT" dirty="0"/>
              <a:t>ARA</a:t>
            </a:r>
            <a:endParaRPr dirty="0"/>
          </a:p>
        </p:txBody>
      </p:sp>
      <p:sp>
        <p:nvSpPr>
          <p:cNvPr id="15" name="+23,3% Vs Target">
            <a:extLst>
              <a:ext uri="{FF2B5EF4-FFF2-40B4-BE49-F238E27FC236}">
                <a16:creationId xmlns:a16="http://schemas.microsoft.com/office/drawing/2014/main" id="{217CB9E3-91AB-D42F-578D-567943E695AD}"/>
              </a:ext>
            </a:extLst>
          </p:cNvPr>
          <p:cNvSpPr/>
          <p:nvPr/>
        </p:nvSpPr>
        <p:spPr>
          <a:xfrm>
            <a:off x="8900040" y="9811640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>
                <a:solidFill>
                  <a:srgbClr val="046307"/>
                </a:solidFill>
              </a:rPr>
              <a:t>+2</a:t>
            </a:r>
            <a:r>
              <a:rPr lang="it-IT" dirty="0">
                <a:solidFill>
                  <a:srgbClr val="046307"/>
                </a:solidFill>
              </a:rPr>
              <a:t>5</a:t>
            </a:r>
            <a:r>
              <a:rPr dirty="0">
                <a:solidFill>
                  <a:srgbClr val="046307"/>
                </a:solidFill>
              </a:rPr>
              <a:t>,3% Vs Target</a:t>
            </a:r>
          </a:p>
        </p:txBody>
      </p:sp>
      <p:sp>
        <p:nvSpPr>
          <p:cNvPr id="13" name="Rettangolo arrotondato">
            <a:extLst>
              <a:ext uri="{FF2B5EF4-FFF2-40B4-BE49-F238E27FC236}">
                <a16:creationId xmlns:a16="http://schemas.microsoft.com/office/drawing/2014/main" id="{EC6F8056-0BEA-2971-2DEC-3382C55404D1}"/>
              </a:ext>
            </a:extLst>
          </p:cNvPr>
          <p:cNvSpPr/>
          <p:nvPr/>
        </p:nvSpPr>
        <p:spPr>
          <a:xfrm>
            <a:off x="4826000" y="8057370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17" name="WEEKLY TREND">
            <a:extLst>
              <a:ext uri="{FF2B5EF4-FFF2-40B4-BE49-F238E27FC236}">
                <a16:creationId xmlns:a16="http://schemas.microsoft.com/office/drawing/2014/main" id="{4F03D21D-89FD-5995-1EDE-D087754CCB02}"/>
              </a:ext>
            </a:extLst>
          </p:cNvPr>
          <p:cNvSpPr/>
          <p:nvPr/>
        </p:nvSpPr>
        <p:spPr>
          <a:xfrm>
            <a:off x="4826000" y="8047845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19" name="Grafico 18">
            <a:extLst>
              <a:ext uri="{FF2B5EF4-FFF2-40B4-BE49-F238E27FC236}">
                <a16:creationId xmlns:a16="http://schemas.microsoft.com/office/drawing/2014/main" id="{DEEDACD0-FFBD-B00F-BD98-E0580EC75D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48952"/>
              </p:ext>
            </p:extLst>
          </p:nvPr>
        </p:nvGraphicFramePr>
        <p:xfrm>
          <a:off x="5198381" y="9049708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tangolo arrotondato">
            <a:extLst>
              <a:ext uri="{FF2B5EF4-FFF2-40B4-BE49-F238E27FC236}">
                <a16:creationId xmlns:a16="http://schemas.microsoft.com/office/drawing/2014/main" id="{93A23454-D5E3-178D-9C41-24E7521A76D1}"/>
              </a:ext>
            </a:extLst>
          </p:cNvPr>
          <p:cNvSpPr/>
          <p:nvPr/>
        </p:nvSpPr>
        <p:spPr>
          <a:xfrm>
            <a:off x="-6535162" y="664889"/>
            <a:ext cx="5911833" cy="5574713"/>
          </a:xfrm>
          <a:prstGeom prst="roundRect">
            <a:avLst>
              <a:gd name="adj" fmla="val 6814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pSp>
        <p:nvGrpSpPr>
          <p:cNvPr id="29" name="Raggruppa">
            <a:extLst>
              <a:ext uri="{FF2B5EF4-FFF2-40B4-BE49-F238E27FC236}">
                <a16:creationId xmlns:a16="http://schemas.microsoft.com/office/drawing/2014/main" id="{EA3F89C4-C398-EB2E-77F6-7F8F92C12508}"/>
              </a:ext>
            </a:extLst>
          </p:cNvPr>
          <p:cNvGrpSpPr/>
          <p:nvPr/>
        </p:nvGrpSpPr>
        <p:grpSpPr>
          <a:xfrm>
            <a:off x="-6000713" y="835302"/>
            <a:ext cx="5080002" cy="5187396"/>
            <a:chOff x="0" y="0"/>
            <a:chExt cx="5080000" cy="5187395"/>
          </a:xfrm>
        </p:grpSpPr>
        <p:sp>
          <p:nvSpPr>
            <p:cNvPr id="31" name="GAP di Budget…">
              <a:extLst>
                <a:ext uri="{FF2B5EF4-FFF2-40B4-BE49-F238E27FC236}">
                  <a16:creationId xmlns:a16="http://schemas.microsoft.com/office/drawing/2014/main" id="{9CCE9512-561B-DD9E-E18A-5AB068EDB6A1}"/>
                </a:ext>
              </a:extLst>
            </p:cNvPr>
            <p:cNvSpPr txBox="1"/>
            <p:nvPr/>
          </p:nvSpPr>
          <p:spPr>
            <a:xfrm>
              <a:off x="500518" y="0"/>
              <a:ext cx="4078964" cy="777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GAP di Budget</a:t>
              </a:r>
            </a:p>
            <a:p>
              <a:pPr algn="ctr">
                <a:defRPr sz="2000" i="1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(W28-W31)</a:t>
              </a:r>
            </a:p>
          </p:txBody>
        </p:sp>
        <p:sp>
          <p:nvSpPr>
            <p:cNvPr id="32" name="Tutte le settimane rappresentano uno scostamento negativo rispetto al target.…">
              <a:extLst>
                <a:ext uri="{FF2B5EF4-FFF2-40B4-BE49-F238E27FC236}">
                  <a16:creationId xmlns:a16="http://schemas.microsoft.com/office/drawing/2014/main" id="{9BF597B1-DAEC-7964-0067-8F120D5162FF}"/>
                </a:ext>
              </a:extLst>
            </p:cNvPr>
            <p:cNvSpPr txBox="1"/>
            <p:nvPr/>
          </p:nvSpPr>
          <p:spPr>
            <a:xfrm>
              <a:off x="0" y="3810714"/>
              <a:ext cx="5080000" cy="1376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Tutte le settimane rappresentano uno scostamento </a:t>
              </a:r>
              <a:r>
                <a:rPr>
                  <a:latin typeface="Avenir Next Medium"/>
                  <a:ea typeface="Avenir Next Medium"/>
                  <a:cs typeface="Avenir Next Medium"/>
                  <a:sym typeface="Avenir Next Medium"/>
                </a:rPr>
                <a:t>negativo</a:t>
              </a:r>
              <a:r>
                <a:t> rispetto al target.</a:t>
              </a:r>
            </a:p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Il deficit maggiore si presenta nelle </a:t>
              </a:r>
              <a:r>
                <a:rPr>
                  <a:latin typeface="Avenir Next Medium"/>
                  <a:ea typeface="Avenir Next Medium"/>
                  <a:cs typeface="Avenir Next Medium"/>
                  <a:sym typeface="Avenir Next Medium"/>
                </a:rPr>
                <a:t>prime settimane</a:t>
              </a:r>
              <a:r>
                <a:t> del mese.</a:t>
              </a:r>
            </a:p>
          </p:txBody>
        </p:sp>
      </p:grpSp>
      <p:graphicFrame>
        <p:nvGraphicFramePr>
          <p:cNvPr id="50" name="Grafico 49">
            <a:extLst>
              <a:ext uri="{FF2B5EF4-FFF2-40B4-BE49-F238E27FC236}">
                <a16:creationId xmlns:a16="http://schemas.microsoft.com/office/drawing/2014/main" id="{DA408992-8284-9390-7CCA-98F3B3F308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975198"/>
              </p:ext>
            </p:extLst>
          </p:nvPr>
        </p:nvGraphicFramePr>
        <p:xfrm>
          <a:off x="-6080499" y="1924223"/>
          <a:ext cx="5002506" cy="2302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ttangolo arrotondato">
            <a:extLst>
              <a:ext uri="{FF2B5EF4-FFF2-40B4-BE49-F238E27FC236}">
                <a16:creationId xmlns:a16="http://schemas.microsoft.com/office/drawing/2014/main" id="{7885DEC8-93E5-44C7-85DE-DD33965F6E7C}"/>
              </a:ext>
            </a:extLst>
          </p:cNvPr>
          <p:cNvSpPr/>
          <p:nvPr/>
        </p:nvSpPr>
        <p:spPr>
          <a:xfrm>
            <a:off x="13990773" y="1701231"/>
            <a:ext cx="4078964" cy="1518892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sp>
        <p:nvSpPr>
          <p:cNvPr id="13" name="€54.257">
            <a:extLst>
              <a:ext uri="{FF2B5EF4-FFF2-40B4-BE49-F238E27FC236}">
                <a16:creationId xmlns:a16="http://schemas.microsoft.com/office/drawing/2014/main" id="{21FCEF6A-131B-B726-1BA9-7A1F44734996}"/>
              </a:ext>
            </a:extLst>
          </p:cNvPr>
          <p:cNvSpPr txBox="1"/>
          <p:nvPr/>
        </p:nvSpPr>
        <p:spPr>
          <a:xfrm>
            <a:off x="14474244" y="1952430"/>
            <a:ext cx="346184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Fatturato: €54.255 </a:t>
            </a:r>
            <a:endParaRPr dirty="0"/>
          </a:p>
        </p:txBody>
      </p:sp>
      <p:sp>
        <p:nvSpPr>
          <p:cNvPr id="14" name="Target Budget: €73.871">
            <a:extLst>
              <a:ext uri="{FF2B5EF4-FFF2-40B4-BE49-F238E27FC236}">
                <a16:creationId xmlns:a16="http://schemas.microsoft.com/office/drawing/2014/main" id="{C426BBC2-3091-D45F-BCCB-8B0C444BE779}"/>
              </a:ext>
            </a:extLst>
          </p:cNvPr>
          <p:cNvSpPr txBox="1"/>
          <p:nvPr/>
        </p:nvSpPr>
        <p:spPr>
          <a:xfrm>
            <a:off x="13990773" y="2650918"/>
            <a:ext cx="407896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Target Budget: €73.871</a:t>
            </a:r>
          </a:p>
        </p:txBody>
      </p:sp>
      <p:sp>
        <p:nvSpPr>
          <p:cNvPr id="114" name="Titolo 1"/>
          <p:cNvSpPr txBox="1"/>
          <p:nvPr/>
        </p:nvSpPr>
        <p:spPr>
          <a:xfrm>
            <a:off x="23859" y="5804"/>
            <a:ext cx="12144282" cy="2114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defRPr sz="4500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dirty="0"/>
              <a:t>Monthly Store Performance</a:t>
            </a:r>
          </a:p>
        </p:txBody>
      </p:sp>
      <p:graphicFrame>
        <p:nvGraphicFramePr>
          <p:cNvPr id="23" name="BORDI">
            <a:extLst>
              <a:ext uri="{FF2B5EF4-FFF2-40B4-BE49-F238E27FC236}">
                <a16:creationId xmlns:a16="http://schemas.microsoft.com/office/drawing/2014/main" id="{6CD8685E-C90E-21FE-5E31-A4B9FC0508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407649"/>
              </p:ext>
            </p:extLst>
          </p:nvPr>
        </p:nvGraphicFramePr>
        <p:xfrm>
          <a:off x="2031999" y="-2985429"/>
          <a:ext cx="8128000" cy="198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dirty="0"/>
                    </a:p>
                  </a:txBody>
                  <a:tcPr marL="45720" marR="45720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H2.0">
            <a:extLst>
              <a:ext uri="{FF2B5EF4-FFF2-40B4-BE49-F238E27FC236}">
                <a16:creationId xmlns:a16="http://schemas.microsoft.com/office/drawing/2014/main" id="{CD663877-7539-034F-F5AF-33282F4C7F87}"/>
              </a:ext>
            </a:extLst>
          </p:cNvPr>
          <p:cNvSpPr txBox="1">
            <a:spLocks/>
          </p:cNvSpPr>
          <p:nvPr/>
        </p:nvSpPr>
        <p:spPr>
          <a:xfrm>
            <a:off x="4566744" y="-1168055"/>
            <a:ext cx="3058511" cy="4549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813816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6" b="0" i="0" u="none" strike="noStrike" cap="none" spc="0" baseline="0">
                <a:solidFill>
                  <a:srgbClr val="000000"/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0" marR="0" indent="4572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2pPr>
            <a:lvl3pPr marL="0" marR="0" indent="9144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3pPr>
            <a:lvl4pPr marL="0" marR="0" indent="13716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4pPr>
            <a:lvl5pPr marL="0" marR="0" indent="18288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ptos"/>
              </a:defRPr>
            </a:lvl9pPr>
          </a:lstStyle>
          <a:p>
            <a:pPr hangingPunct="1"/>
            <a:r>
              <a:rPr lang="it-IT"/>
              <a:t>Analisi – Luglio 2026</a:t>
            </a:r>
            <a:endParaRPr lang="it-IT" dirty="0"/>
          </a:p>
        </p:txBody>
      </p:sp>
      <p:sp>
        <p:nvSpPr>
          <p:cNvPr id="25" name="H1.0">
            <a:extLst>
              <a:ext uri="{FF2B5EF4-FFF2-40B4-BE49-F238E27FC236}">
                <a16:creationId xmlns:a16="http://schemas.microsoft.com/office/drawing/2014/main" id="{27699D44-22BE-049E-9C45-B71991368000}"/>
              </a:ext>
            </a:extLst>
          </p:cNvPr>
          <p:cNvSpPr txBox="1">
            <a:spLocks/>
          </p:cNvSpPr>
          <p:nvPr/>
        </p:nvSpPr>
        <p:spPr>
          <a:xfrm>
            <a:off x="1524000" y="-2822804"/>
            <a:ext cx="9144000" cy="1831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solidFill>
                  <a:srgbClr val="000000"/>
                </a:solidFill>
                <a:uFillTx/>
                <a:latin typeface="Futura Bold"/>
                <a:ea typeface="Futura Bold"/>
                <a:cs typeface="Futura Bold"/>
                <a:sym typeface="Futura Bold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9pPr>
          </a:lstStyle>
          <a:p>
            <a:pPr hangingPunct="1"/>
            <a:r>
              <a:rPr lang="it-IT"/>
              <a:t>OCTUPUS</a:t>
            </a:r>
            <a:endParaRPr lang="it-IT" dirty="0"/>
          </a:p>
        </p:txBody>
      </p:sp>
      <p:sp>
        <p:nvSpPr>
          <p:cNvPr id="41" name="Rettangolo arrotondato">
            <a:extLst>
              <a:ext uri="{FF2B5EF4-FFF2-40B4-BE49-F238E27FC236}">
                <a16:creationId xmlns:a16="http://schemas.microsoft.com/office/drawing/2014/main" id="{3379854D-9715-56B4-978F-06D62FC5DB2A}"/>
              </a:ext>
            </a:extLst>
          </p:cNvPr>
          <p:cNvSpPr/>
          <p:nvPr/>
        </p:nvSpPr>
        <p:spPr>
          <a:xfrm>
            <a:off x="13990773" y="3908735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graphicFrame>
        <p:nvGraphicFramePr>
          <p:cNvPr id="42" name="Grafico 41">
            <a:extLst>
              <a:ext uri="{FF2B5EF4-FFF2-40B4-BE49-F238E27FC236}">
                <a16:creationId xmlns:a16="http://schemas.microsoft.com/office/drawing/2014/main" id="{F4EFBFA2-5858-3569-623C-E886AC0B94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3542185"/>
              </p:ext>
            </p:extLst>
          </p:nvPr>
        </p:nvGraphicFramePr>
        <p:xfrm>
          <a:off x="14095774" y="4645770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73%">
            <a:extLst>
              <a:ext uri="{FF2B5EF4-FFF2-40B4-BE49-F238E27FC236}">
                <a16:creationId xmlns:a16="http://schemas.microsoft.com/office/drawing/2014/main" id="{7EA6378C-4F4A-1AF3-29BC-FAF514F491EF}"/>
              </a:ext>
            </a:extLst>
          </p:cNvPr>
          <p:cNvSpPr>
            <a:spLocks noChangeAspect="1"/>
          </p:cNvSpPr>
          <p:nvPr/>
        </p:nvSpPr>
        <p:spPr>
          <a:xfrm>
            <a:off x="14545774" y="4896924"/>
            <a:ext cx="900000" cy="900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73%</a:t>
            </a:r>
          </a:p>
        </p:txBody>
      </p:sp>
      <p:sp>
        <p:nvSpPr>
          <p:cNvPr id="44" name="Vs Budget">
            <a:extLst>
              <a:ext uri="{FF2B5EF4-FFF2-40B4-BE49-F238E27FC236}">
                <a16:creationId xmlns:a16="http://schemas.microsoft.com/office/drawing/2014/main" id="{BFB51A3E-5708-26F8-4313-41801274BB3C}"/>
              </a:ext>
            </a:extLst>
          </p:cNvPr>
          <p:cNvSpPr txBox="1"/>
          <p:nvPr/>
        </p:nvSpPr>
        <p:spPr>
          <a:xfrm>
            <a:off x="13990773" y="4169810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Budget</a:t>
            </a:r>
          </a:p>
        </p:txBody>
      </p:sp>
      <p:sp>
        <p:nvSpPr>
          <p:cNvPr id="45" name="Rettangolo arrotondato">
            <a:extLst>
              <a:ext uri="{FF2B5EF4-FFF2-40B4-BE49-F238E27FC236}">
                <a16:creationId xmlns:a16="http://schemas.microsoft.com/office/drawing/2014/main" id="{D362164A-DEC2-93C2-A54D-CA736C8D0E11}"/>
              </a:ext>
            </a:extLst>
          </p:cNvPr>
          <p:cNvSpPr/>
          <p:nvPr/>
        </p:nvSpPr>
        <p:spPr>
          <a:xfrm>
            <a:off x="16209475" y="3942334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aphicFrame>
        <p:nvGraphicFramePr>
          <p:cNvPr id="46" name="Grafico ad anello 2D">
            <a:extLst>
              <a:ext uri="{FF2B5EF4-FFF2-40B4-BE49-F238E27FC236}">
                <a16:creationId xmlns:a16="http://schemas.microsoft.com/office/drawing/2014/main" id="{349F37B4-7F3B-94EB-FA50-A9BC1CCF5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2799973"/>
              </p:ext>
            </p:extLst>
          </p:nvPr>
        </p:nvGraphicFramePr>
        <p:xfrm>
          <a:off x="16213273" y="4414487"/>
          <a:ext cx="19008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7" name="Grafico 46">
            <a:extLst>
              <a:ext uri="{FF2B5EF4-FFF2-40B4-BE49-F238E27FC236}">
                <a16:creationId xmlns:a16="http://schemas.microsoft.com/office/drawing/2014/main" id="{6474A63B-32F9-028F-6D4A-1676D98085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694747"/>
              </p:ext>
            </p:extLst>
          </p:nvPr>
        </p:nvGraphicFramePr>
        <p:xfrm>
          <a:off x="16264814" y="4559189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8" name="85%">
            <a:extLst>
              <a:ext uri="{FF2B5EF4-FFF2-40B4-BE49-F238E27FC236}">
                <a16:creationId xmlns:a16="http://schemas.microsoft.com/office/drawing/2014/main" id="{0BB5E76E-E847-4515-4018-0D16E5F5544B}"/>
              </a:ext>
            </a:extLst>
          </p:cNvPr>
          <p:cNvSpPr/>
          <p:nvPr/>
        </p:nvSpPr>
        <p:spPr>
          <a:xfrm>
            <a:off x="16715016" y="4809007"/>
            <a:ext cx="900000" cy="90000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85%</a:t>
            </a:r>
          </a:p>
        </p:txBody>
      </p:sp>
      <p:sp>
        <p:nvSpPr>
          <p:cNvPr id="49" name="Vs LY">
            <a:extLst>
              <a:ext uri="{FF2B5EF4-FFF2-40B4-BE49-F238E27FC236}">
                <a16:creationId xmlns:a16="http://schemas.microsoft.com/office/drawing/2014/main" id="{752D9ED6-605E-8CF6-57C2-DDC3FEF88530}"/>
              </a:ext>
            </a:extLst>
          </p:cNvPr>
          <p:cNvSpPr txBox="1"/>
          <p:nvPr/>
        </p:nvSpPr>
        <p:spPr>
          <a:xfrm>
            <a:off x="16209475" y="4169810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LY</a:t>
            </a:r>
          </a:p>
        </p:txBody>
      </p:sp>
      <p:sp>
        <p:nvSpPr>
          <p:cNvPr id="54" name="- €19.614">
            <a:extLst>
              <a:ext uri="{FF2B5EF4-FFF2-40B4-BE49-F238E27FC236}">
                <a16:creationId xmlns:a16="http://schemas.microsoft.com/office/drawing/2014/main" id="{A19FD213-90A4-5A4C-1FF8-FFDB00727891}"/>
              </a:ext>
            </a:extLst>
          </p:cNvPr>
          <p:cNvSpPr txBox="1"/>
          <p:nvPr/>
        </p:nvSpPr>
        <p:spPr>
          <a:xfrm>
            <a:off x="13971129" y="6152789"/>
            <a:ext cx="1888606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€19.61</a:t>
            </a:r>
            <a:r>
              <a:rPr lang="it-IT" dirty="0"/>
              <a:t>6</a:t>
            </a:r>
          </a:p>
        </p:txBody>
      </p:sp>
      <p:sp>
        <p:nvSpPr>
          <p:cNvPr id="55" name="-  €9.562">
            <a:extLst>
              <a:ext uri="{FF2B5EF4-FFF2-40B4-BE49-F238E27FC236}">
                <a16:creationId xmlns:a16="http://schemas.microsoft.com/office/drawing/2014/main" id="{C558CC6D-F038-DFDA-D552-E8E016431205}"/>
              </a:ext>
            </a:extLst>
          </p:cNvPr>
          <p:cNvSpPr txBox="1"/>
          <p:nvPr/>
        </p:nvSpPr>
        <p:spPr>
          <a:xfrm>
            <a:off x="16181236" y="6143890"/>
            <a:ext cx="188850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 €9.56</a:t>
            </a:r>
            <a:r>
              <a:rPr lang="it-IT" dirty="0"/>
              <a:t>4</a:t>
            </a:r>
          </a:p>
        </p:txBody>
      </p:sp>
      <p:sp>
        <p:nvSpPr>
          <p:cNvPr id="113" name="Rettangolo arrotondato"/>
          <p:cNvSpPr/>
          <p:nvPr/>
        </p:nvSpPr>
        <p:spPr>
          <a:xfrm>
            <a:off x="8885728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116" name="PEOPLE ANALYTICS"/>
          <p:cNvSpPr/>
          <p:nvPr/>
        </p:nvSpPr>
        <p:spPr>
          <a:xfrm>
            <a:off x="8876203" y="2051061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124" name="SHARON H."/>
          <p:cNvSpPr/>
          <p:nvPr/>
        </p:nvSpPr>
        <p:spPr>
          <a:xfrm>
            <a:off x="8886528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S</a:t>
            </a:r>
            <a:r>
              <a:rPr lang="it-IT" dirty="0"/>
              <a:t>ARA</a:t>
            </a:r>
            <a:endParaRPr dirty="0"/>
          </a:p>
        </p:txBody>
      </p:sp>
      <p:sp>
        <p:nvSpPr>
          <p:cNvPr id="125" name="+23,3% Vs Target"/>
          <p:cNvSpPr/>
          <p:nvPr/>
        </p:nvSpPr>
        <p:spPr>
          <a:xfrm>
            <a:off x="8900040" y="3837560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>
                <a:solidFill>
                  <a:srgbClr val="046307"/>
                </a:solidFill>
              </a:rPr>
              <a:t>+2</a:t>
            </a:r>
            <a:r>
              <a:rPr lang="it-IT" dirty="0">
                <a:solidFill>
                  <a:srgbClr val="046307"/>
                </a:solidFill>
              </a:rPr>
              <a:t>5</a:t>
            </a:r>
            <a:r>
              <a:rPr dirty="0">
                <a:solidFill>
                  <a:srgbClr val="046307"/>
                </a:solidFill>
              </a:rPr>
              <a:t>,3% Vs Target</a:t>
            </a:r>
          </a:p>
        </p:txBody>
      </p:sp>
      <p:sp>
        <p:nvSpPr>
          <p:cNvPr id="112" name="Rettangolo arrotondato"/>
          <p:cNvSpPr/>
          <p:nvPr/>
        </p:nvSpPr>
        <p:spPr>
          <a:xfrm>
            <a:off x="766271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COSTAMENTO…"/>
          <p:cNvSpPr/>
          <p:nvPr/>
        </p:nvSpPr>
        <p:spPr>
          <a:xfrm>
            <a:off x="780559" y="2055109"/>
            <a:ext cx="2540001" cy="3194293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DAL BUDGET</a:t>
            </a:r>
          </a:p>
        </p:txBody>
      </p:sp>
      <p:sp>
        <p:nvSpPr>
          <p:cNvPr id="118" name="€54.257 | 73%"/>
          <p:cNvSpPr/>
          <p:nvPr/>
        </p:nvSpPr>
        <p:spPr>
          <a:xfrm>
            <a:off x="761509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119" name="Target Budget: €73.871…"/>
          <p:cNvSpPr/>
          <p:nvPr/>
        </p:nvSpPr>
        <p:spPr>
          <a:xfrm>
            <a:off x="761509" y="385176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51" name="Rettangolo arrotondato">
            <a:extLst>
              <a:ext uri="{FF2B5EF4-FFF2-40B4-BE49-F238E27FC236}">
                <a16:creationId xmlns:a16="http://schemas.microsoft.com/office/drawing/2014/main" id="{3AEEACCA-F9C6-A0C8-1AD2-E4A7815810CA}"/>
              </a:ext>
            </a:extLst>
          </p:cNvPr>
          <p:cNvSpPr/>
          <p:nvPr/>
        </p:nvSpPr>
        <p:spPr>
          <a:xfrm>
            <a:off x="4826000" y="2055888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52" name="WEEKLY TREND">
            <a:extLst>
              <a:ext uri="{FF2B5EF4-FFF2-40B4-BE49-F238E27FC236}">
                <a16:creationId xmlns:a16="http://schemas.microsoft.com/office/drawing/2014/main" id="{E7A7A66F-4F84-FA10-4DD4-DF51549FC23E}"/>
              </a:ext>
            </a:extLst>
          </p:cNvPr>
          <p:cNvSpPr/>
          <p:nvPr/>
        </p:nvSpPr>
        <p:spPr>
          <a:xfrm>
            <a:off x="4826000" y="2046363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53" name="Grafico 52">
            <a:extLst>
              <a:ext uri="{FF2B5EF4-FFF2-40B4-BE49-F238E27FC236}">
                <a16:creationId xmlns:a16="http://schemas.microsoft.com/office/drawing/2014/main" id="{AD544E32-9376-E468-2640-2E03EE7129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8157475"/>
              </p:ext>
            </p:extLst>
          </p:nvPr>
        </p:nvGraphicFramePr>
        <p:xfrm>
          <a:off x="5198381" y="3048226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ttangolo arrotondato"/>
          <p:cNvSpPr/>
          <p:nvPr/>
        </p:nvSpPr>
        <p:spPr>
          <a:xfrm>
            <a:off x="567617" y="744193"/>
            <a:ext cx="5911833" cy="5574713"/>
          </a:xfrm>
          <a:prstGeom prst="roundRect">
            <a:avLst>
              <a:gd name="adj" fmla="val 6814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pSp>
        <p:nvGrpSpPr>
          <p:cNvPr id="163" name="Raggruppa"/>
          <p:cNvGrpSpPr/>
          <p:nvPr/>
        </p:nvGrpSpPr>
        <p:grpSpPr>
          <a:xfrm>
            <a:off x="983532" y="937852"/>
            <a:ext cx="5080002" cy="5187396"/>
            <a:chOff x="0" y="0"/>
            <a:chExt cx="5080000" cy="5187395"/>
          </a:xfrm>
        </p:grpSpPr>
        <p:sp>
          <p:nvSpPr>
            <p:cNvPr id="161" name="GAP di Budget…"/>
            <p:cNvSpPr txBox="1"/>
            <p:nvPr/>
          </p:nvSpPr>
          <p:spPr>
            <a:xfrm>
              <a:off x="500518" y="0"/>
              <a:ext cx="4078964" cy="777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GAP di Budget</a:t>
              </a:r>
            </a:p>
            <a:p>
              <a:pPr algn="ctr">
                <a:defRPr sz="2000" i="1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(W28-W31)</a:t>
              </a:r>
            </a:p>
          </p:txBody>
        </p:sp>
        <p:sp>
          <p:nvSpPr>
            <p:cNvPr id="162" name="Tutte le settimane rappresentano uno scostamento negativo rispetto al target.…"/>
            <p:cNvSpPr txBox="1"/>
            <p:nvPr/>
          </p:nvSpPr>
          <p:spPr>
            <a:xfrm>
              <a:off x="0" y="3810714"/>
              <a:ext cx="5080000" cy="1376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Tutte le settimane rappresentano uno scostamento </a:t>
              </a:r>
              <a:r>
                <a:rPr>
                  <a:latin typeface="Avenir Next Medium"/>
                  <a:ea typeface="Avenir Next Medium"/>
                  <a:cs typeface="Avenir Next Medium"/>
                  <a:sym typeface="Avenir Next Medium"/>
                </a:rPr>
                <a:t>negativo</a:t>
              </a:r>
              <a:r>
                <a:t> rispetto al target.</a:t>
              </a:r>
            </a:p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Il deficit maggiore si presenta nelle </a:t>
              </a:r>
              <a:r>
                <a:rPr>
                  <a:latin typeface="Avenir Next Medium"/>
                  <a:ea typeface="Avenir Next Medium"/>
                  <a:cs typeface="Avenir Next Medium"/>
                  <a:sym typeface="Avenir Next Medium"/>
                </a:rPr>
                <a:t>prime settimane</a:t>
              </a:r>
              <a:r>
                <a:t> del mese.</a:t>
              </a:r>
            </a:p>
          </p:txBody>
        </p:sp>
      </p:grpSp>
      <p:graphicFrame>
        <p:nvGraphicFramePr>
          <p:cNvPr id="30" name="Grafico 29">
            <a:extLst>
              <a:ext uri="{FF2B5EF4-FFF2-40B4-BE49-F238E27FC236}">
                <a16:creationId xmlns:a16="http://schemas.microsoft.com/office/drawing/2014/main" id="{D7EB276E-BD2E-4E92-AF22-4556BD07B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833830"/>
              </p:ext>
            </p:extLst>
          </p:nvPr>
        </p:nvGraphicFramePr>
        <p:xfrm>
          <a:off x="978101" y="2088784"/>
          <a:ext cx="5002506" cy="2302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5" name="Rettangolo arrotondato"/>
          <p:cNvSpPr/>
          <p:nvPr/>
        </p:nvSpPr>
        <p:spPr>
          <a:xfrm>
            <a:off x="7278884" y="1697735"/>
            <a:ext cx="4078964" cy="1518892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sp>
        <p:nvSpPr>
          <p:cNvPr id="148" name="€54.257"/>
          <p:cNvSpPr txBox="1"/>
          <p:nvPr/>
        </p:nvSpPr>
        <p:spPr>
          <a:xfrm>
            <a:off x="7762355" y="1948934"/>
            <a:ext cx="336566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Fatturato: €54.255</a:t>
            </a:r>
            <a:endParaRPr dirty="0"/>
          </a:p>
        </p:txBody>
      </p:sp>
      <p:sp>
        <p:nvSpPr>
          <p:cNvPr id="159" name="Target Budget: €73.871"/>
          <p:cNvSpPr txBox="1"/>
          <p:nvPr/>
        </p:nvSpPr>
        <p:spPr>
          <a:xfrm>
            <a:off x="7278884" y="2647422"/>
            <a:ext cx="407896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Target Budget: €73.871</a:t>
            </a:r>
          </a:p>
        </p:txBody>
      </p:sp>
      <p:sp>
        <p:nvSpPr>
          <p:cNvPr id="171" name="Titolo 1"/>
          <p:cNvSpPr txBox="1"/>
          <p:nvPr/>
        </p:nvSpPr>
        <p:spPr>
          <a:xfrm>
            <a:off x="0" y="-6852218"/>
            <a:ext cx="12144282" cy="2114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defRPr sz="4500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dirty="0"/>
              <a:t>Monthly Store Performance</a:t>
            </a:r>
          </a:p>
        </p:txBody>
      </p:sp>
      <p:sp>
        <p:nvSpPr>
          <p:cNvPr id="43" name="Rettangolo arrotondato">
            <a:extLst>
              <a:ext uri="{FF2B5EF4-FFF2-40B4-BE49-F238E27FC236}">
                <a16:creationId xmlns:a16="http://schemas.microsoft.com/office/drawing/2014/main" id="{B711F1EB-497F-92FD-F8EA-C152838CAC8A}"/>
              </a:ext>
            </a:extLst>
          </p:cNvPr>
          <p:cNvSpPr/>
          <p:nvPr/>
        </p:nvSpPr>
        <p:spPr>
          <a:xfrm>
            <a:off x="7234145" y="3429000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graphicFrame>
        <p:nvGraphicFramePr>
          <p:cNvPr id="44" name="Grafico 43">
            <a:extLst>
              <a:ext uri="{FF2B5EF4-FFF2-40B4-BE49-F238E27FC236}">
                <a16:creationId xmlns:a16="http://schemas.microsoft.com/office/drawing/2014/main" id="{EC0B32BD-2F31-AAA1-360F-7C4F5EBCF7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377959"/>
              </p:ext>
            </p:extLst>
          </p:nvPr>
        </p:nvGraphicFramePr>
        <p:xfrm>
          <a:off x="7339146" y="4166035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73%">
            <a:extLst>
              <a:ext uri="{FF2B5EF4-FFF2-40B4-BE49-F238E27FC236}">
                <a16:creationId xmlns:a16="http://schemas.microsoft.com/office/drawing/2014/main" id="{3E43F0EE-3A8B-28AB-F1BA-FC602C561D88}"/>
              </a:ext>
            </a:extLst>
          </p:cNvPr>
          <p:cNvSpPr>
            <a:spLocks noChangeAspect="1"/>
          </p:cNvSpPr>
          <p:nvPr/>
        </p:nvSpPr>
        <p:spPr>
          <a:xfrm>
            <a:off x="7789146" y="4417189"/>
            <a:ext cx="900000" cy="900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73%</a:t>
            </a:r>
          </a:p>
        </p:txBody>
      </p:sp>
      <p:sp>
        <p:nvSpPr>
          <p:cNvPr id="46" name="Vs Budget">
            <a:extLst>
              <a:ext uri="{FF2B5EF4-FFF2-40B4-BE49-F238E27FC236}">
                <a16:creationId xmlns:a16="http://schemas.microsoft.com/office/drawing/2014/main" id="{668F33A5-B5EF-A544-6A9D-577C89E268B4}"/>
              </a:ext>
            </a:extLst>
          </p:cNvPr>
          <p:cNvSpPr txBox="1"/>
          <p:nvPr/>
        </p:nvSpPr>
        <p:spPr>
          <a:xfrm>
            <a:off x="7234145" y="3690075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Budget</a:t>
            </a:r>
          </a:p>
        </p:txBody>
      </p:sp>
      <p:sp>
        <p:nvSpPr>
          <p:cNvPr id="47" name="Rettangolo arrotondato">
            <a:extLst>
              <a:ext uri="{FF2B5EF4-FFF2-40B4-BE49-F238E27FC236}">
                <a16:creationId xmlns:a16="http://schemas.microsoft.com/office/drawing/2014/main" id="{E53934FE-84B2-B2D4-90DE-75ED4AD23ADF}"/>
              </a:ext>
            </a:extLst>
          </p:cNvPr>
          <p:cNvSpPr/>
          <p:nvPr/>
        </p:nvSpPr>
        <p:spPr>
          <a:xfrm>
            <a:off x="9452847" y="3462599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aphicFrame>
        <p:nvGraphicFramePr>
          <p:cNvPr id="48" name="Grafico ad anello 2D">
            <a:extLst>
              <a:ext uri="{FF2B5EF4-FFF2-40B4-BE49-F238E27FC236}">
                <a16:creationId xmlns:a16="http://schemas.microsoft.com/office/drawing/2014/main" id="{1A221E69-9AB1-7025-92DE-7725A2C8F9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531233"/>
              </p:ext>
            </p:extLst>
          </p:nvPr>
        </p:nvGraphicFramePr>
        <p:xfrm>
          <a:off x="9456645" y="3934752"/>
          <a:ext cx="19008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9" name="Grafico 48">
            <a:extLst>
              <a:ext uri="{FF2B5EF4-FFF2-40B4-BE49-F238E27FC236}">
                <a16:creationId xmlns:a16="http://schemas.microsoft.com/office/drawing/2014/main" id="{DE682996-EE07-B728-323B-CD652E1ED8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101896"/>
              </p:ext>
            </p:extLst>
          </p:nvPr>
        </p:nvGraphicFramePr>
        <p:xfrm>
          <a:off x="9508186" y="4079454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" name="85%">
            <a:extLst>
              <a:ext uri="{FF2B5EF4-FFF2-40B4-BE49-F238E27FC236}">
                <a16:creationId xmlns:a16="http://schemas.microsoft.com/office/drawing/2014/main" id="{3C82EA4E-5DC7-16E4-EB80-8D26914BE4EA}"/>
              </a:ext>
            </a:extLst>
          </p:cNvPr>
          <p:cNvSpPr/>
          <p:nvPr/>
        </p:nvSpPr>
        <p:spPr>
          <a:xfrm>
            <a:off x="9958388" y="4329272"/>
            <a:ext cx="900000" cy="90000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85%</a:t>
            </a:r>
          </a:p>
        </p:txBody>
      </p:sp>
      <p:sp>
        <p:nvSpPr>
          <p:cNvPr id="51" name="Vs LY">
            <a:extLst>
              <a:ext uri="{FF2B5EF4-FFF2-40B4-BE49-F238E27FC236}">
                <a16:creationId xmlns:a16="http://schemas.microsoft.com/office/drawing/2014/main" id="{BFEDCEEE-2C7A-ED61-B903-55709D09CB9E}"/>
              </a:ext>
            </a:extLst>
          </p:cNvPr>
          <p:cNvSpPr txBox="1"/>
          <p:nvPr/>
        </p:nvSpPr>
        <p:spPr>
          <a:xfrm>
            <a:off x="9452847" y="3690075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LY</a:t>
            </a:r>
          </a:p>
        </p:txBody>
      </p:sp>
      <p:sp>
        <p:nvSpPr>
          <p:cNvPr id="52" name="- €19.614">
            <a:extLst>
              <a:ext uri="{FF2B5EF4-FFF2-40B4-BE49-F238E27FC236}">
                <a16:creationId xmlns:a16="http://schemas.microsoft.com/office/drawing/2014/main" id="{CA997A41-9F77-365C-B443-B1E64EE0328F}"/>
              </a:ext>
            </a:extLst>
          </p:cNvPr>
          <p:cNvSpPr txBox="1"/>
          <p:nvPr/>
        </p:nvSpPr>
        <p:spPr>
          <a:xfrm>
            <a:off x="7214501" y="5673054"/>
            <a:ext cx="1888606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€19.61</a:t>
            </a:r>
            <a:r>
              <a:rPr lang="it-IT" dirty="0"/>
              <a:t>6</a:t>
            </a:r>
          </a:p>
        </p:txBody>
      </p:sp>
      <p:sp>
        <p:nvSpPr>
          <p:cNvPr id="53" name="-  €9.562">
            <a:extLst>
              <a:ext uri="{FF2B5EF4-FFF2-40B4-BE49-F238E27FC236}">
                <a16:creationId xmlns:a16="http://schemas.microsoft.com/office/drawing/2014/main" id="{5E6C664C-FB6C-4C4C-BD3C-A735A6230B66}"/>
              </a:ext>
            </a:extLst>
          </p:cNvPr>
          <p:cNvSpPr txBox="1"/>
          <p:nvPr/>
        </p:nvSpPr>
        <p:spPr>
          <a:xfrm>
            <a:off x="9424608" y="5664155"/>
            <a:ext cx="188850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 €9.56</a:t>
            </a:r>
            <a:r>
              <a:rPr lang="it-IT" dirty="0"/>
              <a:t>4</a:t>
            </a:r>
          </a:p>
        </p:txBody>
      </p:sp>
      <p:sp>
        <p:nvSpPr>
          <p:cNvPr id="154" name="SCOSTAMENTO DAL BUDGET"/>
          <p:cNvSpPr txBox="1"/>
          <p:nvPr/>
        </p:nvSpPr>
        <p:spPr>
          <a:xfrm>
            <a:off x="7395883" y="557463"/>
            <a:ext cx="4098608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sz="2800" cap="all" dirty="0">
                <a:solidFill>
                  <a:srgbClr val="2E2910"/>
                </a:solidFill>
              </a:rPr>
              <a:t>SCOSTAMENTO DAL BUDGET</a:t>
            </a:r>
          </a:p>
        </p:txBody>
      </p:sp>
      <p:sp>
        <p:nvSpPr>
          <p:cNvPr id="15" name="Rettangolo arrotondato">
            <a:extLst>
              <a:ext uri="{FF2B5EF4-FFF2-40B4-BE49-F238E27FC236}">
                <a16:creationId xmlns:a16="http://schemas.microsoft.com/office/drawing/2014/main" id="{89475A2A-5CD8-6D55-94FB-FDD1531C443C}"/>
              </a:ext>
            </a:extLst>
          </p:cNvPr>
          <p:cNvSpPr/>
          <p:nvPr/>
        </p:nvSpPr>
        <p:spPr>
          <a:xfrm>
            <a:off x="648497" y="-4065853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0" name="€54.257 | 73%">
            <a:extLst>
              <a:ext uri="{FF2B5EF4-FFF2-40B4-BE49-F238E27FC236}">
                <a16:creationId xmlns:a16="http://schemas.microsoft.com/office/drawing/2014/main" id="{8415DD89-4059-3EC5-3A57-BABF04097546}"/>
              </a:ext>
            </a:extLst>
          </p:cNvPr>
          <p:cNvSpPr/>
          <p:nvPr/>
        </p:nvSpPr>
        <p:spPr>
          <a:xfrm>
            <a:off x="649297" y="-3085563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11" name="Target Budget: €73.871…">
            <a:extLst>
              <a:ext uri="{FF2B5EF4-FFF2-40B4-BE49-F238E27FC236}">
                <a16:creationId xmlns:a16="http://schemas.microsoft.com/office/drawing/2014/main" id="{791C5D5B-93EC-FD3D-9698-978C8B1B203F}"/>
              </a:ext>
            </a:extLst>
          </p:cNvPr>
          <p:cNvSpPr/>
          <p:nvPr/>
        </p:nvSpPr>
        <p:spPr>
          <a:xfrm>
            <a:off x="649297" y="-2309426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6" name="Rettangolo arrotondato">
            <a:extLst>
              <a:ext uri="{FF2B5EF4-FFF2-40B4-BE49-F238E27FC236}">
                <a16:creationId xmlns:a16="http://schemas.microsoft.com/office/drawing/2014/main" id="{46D235DC-BE76-B308-25C8-D5BA0C5B3B27}"/>
              </a:ext>
            </a:extLst>
          </p:cNvPr>
          <p:cNvSpPr/>
          <p:nvPr/>
        </p:nvSpPr>
        <p:spPr>
          <a:xfrm>
            <a:off x="8773516" y="-4100605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8" name="PEOPLE ANALYTICS">
            <a:extLst>
              <a:ext uri="{FF2B5EF4-FFF2-40B4-BE49-F238E27FC236}">
                <a16:creationId xmlns:a16="http://schemas.microsoft.com/office/drawing/2014/main" id="{E91A2AE0-10D3-DBE5-0764-027CBA3E99C1}"/>
              </a:ext>
            </a:extLst>
          </p:cNvPr>
          <p:cNvSpPr/>
          <p:nvPr/>
        </p:nvSpPr>
        <p:spPr>
          <a:xfrm>
            <a:off x="8763991" y="-4110130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13" name="SHARON H.">
            <a:extLst>
              <a:ext uri="{FF2B5EF4-FFF2-40B4-BE49-F238E27FC236}">
                <a16:creationId xmlns:a16="http://schemas.microsoft.com/office/drawing/2014/main" id="{A4771E73-4B17-9970-58B0-4C29E39486B9}"/>
              </a:ext>
            </a:extLst>
          </p:cNvPr>
          <p:cNvSpPr/>
          <p:nvPr/>
        </p:nvSpPr>
        <p:spPr>
          <a:xfrm>
            <a:off x="8774316" y="-3085563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S</a:t>
            </a:r>
            <a:r>
              <a:rPr lang="it-IT" dirty="0"/>
              <a:t>ARA</a:t>
            </a:r>
            <a:endParaRPr dirty="0"/>
          </a:p>
        </p:txBody>
      </p:sp>
      <p:sp>
        <p:nvSpPr>
          <p:cNvPr id="14" name="+23,3% Vs Target">
            <a:extLst>
              <a:ext uri="{FF2B5EF4-FFF2-40B4-BE49-F238E27FC236}">
                <a16:creationId xmlns:a16="http://schemas.microsoft.com/office/drawing/2014/main" id="{C3EB113A-8A6A-0D23-0E66-BBDEEAEB03D7}"/>
              </a:ext>
            </a:extLst>
          </p:cNvPr>
          <p:cNvSpPr/>
          <p:nvPr/>
        </p:nvSpPr>
        <p:spPr>
          <a:xfrm>
            <a:off x="8787828" y="-2323631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>
                <a:solidFill>
                  <a:srgbClr val="046307"/>
                </a:solidFill>
              </a:rPr>
              <a:t>+2</a:t>
            </a:r>
            <a:r>
              <a:rPr lang="it-IT" dirty="0">
                <a:solidFill>
                  <a:srgbClr val="046307"/>
                </a:solidFill>
              </a:rPr>
              <a:t>5</a:t>
            </a:r>
            <a:r>
              <a:rPr dirty="0">
                <a:solidFill>
                  <a:srgbClr val="046307"/>
                </a:solidFill>
              </a:rPr>
              <a:t>,3% Vs Target</a:t>
            </a:r>
          </a:p>
        </p:txBody>
      </p:sp>
      <p:sp>
        <p:nvSpPr>
          <p:cNvPr id="31" name="Rettangolo arrotondato">
            <a:extLst>
              <a:ext uri="{FF2B5EF4-FFF2-40B4-BE49-F238E27FC236}">
                <a16:creationId xmlns:a16="http://schemas.microsoft.com/office/drawing/2014/main" id="{550CAC04-F119-FB44-2D91-F8EE0720E28A}"/>
              </a:ext>
            </a:extLst>
          </p:cNvPr>
          <p:cNvSpPr/>
          <p:nvPr/>
        </p:nvSpPr>
        <p:spPr>
          <a:xfrm>
            <a:off x="4713789" y="-4065853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32" name="WEEKLY TREND">
            <a:extLst>
              <a:ext uri="{FF2B5EF4-FFF2-40B4-BE49-F238E27FC236}">
                <a16:creationId xmlns:a16="http://schemas.microsoft.com/office/drawing/2014/main" id="{75ABC204-79AB-CAD5-85C5-291B55AC12DC}"/>
              </a:ext>
            </a:extLst>
          </p:cNvPr>
          <p:cNvSpPr/>
          <p:nvPr/>
        </p:nvSpPr>
        <p:spPr>
          <a:xfrm>
            <a:off x="4713789" y="-4075378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33" name="Grafico 32">
            <a:extLst>
              <a:ext uri="{FF2B5EF4-FFF2-40B4-BE49-F238E27FC236}">
                <a16:creationId xmlns:a16="http://schemas.microsoft.com/office/drawing/2014/main" id="{7085C46B-C9A5-F09D-1EBD-42451B95EF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30958"/>
              </p:ext>
            </p:extLst>
          </p:nvPr>
        </p:nvGraphicFramePr>
        <p:xfrm>
          <a:off x="5086170" y="-3073515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1A70B-6FDA-EACB-A90F-C0BCBF2F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arrotondato">
            <a:extLst>
              <a:ext uri="{FF2B5EF4-FFF2-40B4-BE49-F238E27FC236}">
                <a16:creationId xmlns:a16="http://schemas.microsoft.com/office/drawing/2014/main" id="{635DC0DF-3BFF-D768-A949-BDF9B73206C0}"/>
              </a:ext>
            </a:extLst>
          </p:cNvPr>
          <p:cNvSpPr/>
          <p:nvPr/>
        </p:nvSpPr>
        <p:spPr>
          <a:xfrm>
            <a:off x="-6684679" y="839060"/>
            <a:ext cx="5911833" cy="5574713"/>
          </a:xfrm>
          <a:prstGeom prst="roundRect">
            <a:avLst>
              <a:gd name="adj" fmla="val 6814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400"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pSp>
        <p:nvGrpSpPr>
          <p:cNvPr id="17" name="Raggruppa">
            <a:extLst>
              <a:ext uri="{FF2B5EF4-FFF2-40B4-BE49-F238E27FC236}">
                <a16:creationId xmlns:a16="http://schemas.microsoft.com/office/drawing/2014/main" id="{54D75D39-BA76-4D48-B034-F8712432719B}"/>
              </a:ext>
            </a:extLst>
          </p:cNvPr>
          <p:cNvGrpSpPr/>
          <p:nvPr/>
        </p:nvGrpSpPr>
        <p:grpSpPr>
          <a:xfrm>
            <a:off x="-6268764" y="1032719"/>
            <a:ext cx="5080002" cy="5187396"/>
            <a:chOff x="0" y="0"/>
            <a:chExt cx="5080000" cy="5187395"/>
          </a:xfrm>
        </p:grpSpPr>
        <p:sp>
          <p:nvSpPr>
            <p:cNvPr id="19" name="GAP di Budget…">
              <a:extLst>
                <a:ext uri="{FF2B5EF4-FFF2-40B4-BE49-F238E27FC236}">
                  <a16:creationId xmlns:a16="http://schemas.microsoft.com/office/drawing/2014/main" id="{542C6447-0246-5752-6380-A2434170F2E1}"/>
                </a:ext>
              </a:extLst>
            </p:cNvPr>
            <p:cNvSpPr txBox="1"/>
            <p:nvPr/>
          </p:nvSpPr>
          <p:spPr>
            <a:xfrm>
              <a:off x="500518" y="0"/>
              <a:ext cx="4078964" cy="777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t>GAP di Budget</a:t>
              </a:r>
            </a:p>
            <a:p>
              <a:pPr algn="ctr">
                <a:defRPr sz="2000" i="1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t>(W28-W31)</a:t>
              </a:r>
            </a:p>
          </p:txBody>
        </p:sp>
        <p:sp>
          <p:nvSpPr>
            <p:cNvPr id="20" name="Tutte le settimane rappresentano uno scostamento negativo rispetto al target.…">
              <a:extLst>
                <a:ext uri="{FF2B5EF4-FFF2-40B4-BE49-F238E27FC236}">
                  <a16:creationId xmlns:a16="http://schemas.microsoft.com/office/drawing/2014/main" id="{80055F5F-1775-CB9C-220D-727197B87498}"/>
                </a:ext>
              </a:extLst>
            </p:cNvPr>
            <p:cNvSpPr txBox="1"/>
            <p:nvPr/>
          </p:nvSpPr>
          <p:spPr>
            <a:xfrm>
              <a:off x="0" y="3810714"/>
              <a:ext cx="5080000" cy="1376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Tutte le </a:t>
              </a:r>
              <a:r>
                <a:rPr dirty="0" err="1"/>
                <a:t>settimane</a:t>
              </a:r>
              <a:r>
                <a:rPr dirty="0"/>
                <a:t> </a:t>
              </a:r>
              <a:r>
                <a:rPr dirty="0" err="1"/>
                <a:t>rappresentano</a:t>
              </a:r>
              <a:r>
                <a:rPr dirty="0"/>
                <a:t> uno </a:t>
              </a:r>
              <a:r>
                <a:rPr dirty="0" err="1"/>
                <a:t>scostamento</a:t>
              </a:r>
              <a:r>
                <a:rPr dirty="0"/>
                <a:t> </a:t>
              </a:r>
              <a:r>
                <a:rPr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negativo</a:t>
              </a:r>
              <a:r>
                <a:rPr dirty="0"/>
                <a:t> rispetto al target.</a:t>
              </a:r>
            </a:p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Il deficit </a:t>
              </a:r>
              <a:r>
                <a:rPr dirty="0" err="1"/>
                <a:t>maggiore</a:t>
              </a:r>
              <a:r>
                <a:rPr dirty="0"/>
                <a:t> </a:t>
              </a:r>
              <a:r>
                <a:rPr dirty="0" err="1"/>
                <a:t>si</a:t>
              </a:r>
              <a:r>
                <a:rPr dirty="0"/>
                <a:t> </a:t>
              </a:r>
              <a:r>
                <a:rPr dirty="0" err="1"/>
                <a:t>presenta</a:t>
              </a:r>
              <a:r>
                <a:rPr dirty="0"/>
                <a:t> </a:t>
              </a:r>
              <a:r>
                <a:rPr dirty="0" err="1"/>
                <a:t>nelle</a:t>
              </a:r>
              <a:r>
                <a:rPr dirty="0"/>
                <a:t> </a:t>
              </a:r>
              <a:r>
                <a:rPr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prime </a:t>
              </a:r>
              <a:r>
                <a:rPr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settimane</a:t>
              </a:r>
              <a:r>
                <a:rPr dirty="0"/>
                <a:t> del mese.</a:t>
              </a:r>
            </a:p>
          </p:txBody>
        </p:sp>
      </p:grpSp>
      <p:graphicFrame>
        <p:nvGraphicFramePr>
          <p:cNvPr id="38" name="Grafico 37">
            <a:extLst>
              <a:ext uri="{FF2B5EF4-FFF2-40B4-BE49-F238E27FC236}">
                <a16:creationId xmlns:a16="http://schemas.microsoft.com/office/drawing/2014/main" id="{E61E8BA4-B3A0-D723-023B-63540CE6C2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777116"/>
              </p:ext>
            </p:extLst>
          </p:nvPr>
        </p:nvGraphicFramePr>
        <p:xfrm>
          <a:off x="-6191268" y="2071127"/>
          <a:ext cx="5002506" cy="2302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Rettangolo arrotondato">
            <a:extLst>
              <a:ext uri="{FF2B5EF4-FFF2-40B4-BE49-F238E27FC236}">
                <a16:creationId xmlns:a16="http://schemas.microsoft.com/office/drawing/2014/main" id="{595DF5B8-BD8B-D8C8-7745-C1080066500D}"/>
              </a:ext>
            </a:extLst>
          </p:cNvPr>
          <p:cNvSpPr/>
          <p:nvPr/>
        </p:nvSpPr>
        <p:spPr>
          <a:xfrm>
            <a:off x="8885728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116" name="PEOPLE ANALYTICS">
            <a:extLst>
              <a:ext uri="{FF2B5EF4-FFF2-40B4-BE49-F238E27FC236}">
                <a16:creationId xmlns:a16="http://schemas.microsoft.com/office/drawing/2014/main" id="{7B4EAE49-CEDB-4061-E8F7-3BAC63A196CB}"/>
              </a:ext>
            </a:extLst>
          </p:cNvPr>
          <p:cNvSpPr/>
          <p:nvPr/>
        </p:nvSpPr>
        <p:spPr>
          <a:xfrm>
            <a:off x="8876203" y="2051061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112" name="Rettangolo arrotondato">
            <a:extLst>
              <a:ext uri="{FF2B5EF4-FFF2-40B4-BE49-F238E27FC236}">
                <a16:creationId xmlns:a16="http://schemas.microsoft.com/office/drawing/2014/main" id="{822061A7-2B49-7395-3D4E-464072C8886F}"/>
              </a:ext>
            </a:extLst>
          </p:cNvPr>
          <p:cNvSpPr/>
          <p:nvPr/>
        </p:nvSpPr>
        <p:spPr>
          <a:xfrm>
            <a:off x="766271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COSTAMENTO…">
            <a:extLst>
              <a:ext uri="{FF2B5EF4-FFF2-40B4-BE49-F238E27FC236}">
                <a16:creationId xmlns:a16="http://schemas.microsoft.com/office/drawing/2014/main" id="{5A6AFE8B-6444-A34E-2945-50898C1A655C}"/>
              </a:ext>
            </a:extLst>
          </p:cNvPr>
          <p:cNvSpPr/>
          <p:nvPr/>
        </p:nvSpPr>
        <p:spPr>
          <a:xfrm>
            <a:off x="780559" y="2055109"/>
            <a:ext cx="2540001" cy="3194293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DAL BUDGET</a:t>
            </a:r>
          </a:p>
        </p:txBody>
      </p:sp>
      <p:sp>
        <p:nvSpPr>
          <p:cNvPr id="118" name="€54.257 | 73%">
            <a:extLst>
              <a:ext uri="{FF2B5EF4-FFF2-40B4-BE49-F238E27FC236}">
                <a16:creationId xmlns:a16="http://schemas.microsoft.com/office/drawing/2014/main" id="{EA5B5D30-1D94-EC15-9FD2-F9ADD4395097}"/>
              </a:ext>
            </a:extLst>
          </p:cNvPr>
          <p:cNvSpPr/>
          <p:nvPr/>
        </p:nvSpPr>
        <p:spPr>
          <a:xfrm>
            <a:off x="761509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119" name="Target Budget: €73.871…">
            <a:extLst>
              <a:ext uri="{FF2B5EF4-FFF2-40B4-BE49-F238E27FC236}">
                <a16:creationId xmlns:a16="http://schemas.microsoft.com/office/drawing/2014/main" id="{77218852-D796-DAB5-5746-9958761D23CD}"/>
              </a:ext>
            </a:extLst>
          </p:cNvPr>
          <p:cNvSpPr/>
          <p:nvPr/>
        </p:nvSpPr>
        <p:spPr>
          <a:xfrm>
            <a:off x="761509" y="385176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124" name="SHARON H.">
            <a:extLst>
              <a:ext uri="{FF2B5EF4-FFF2-40B4-BE49-F238E27FC236}">
                <a16:creationId xmlns:a16="http://schemas.microsoft.com/office/drawing/2014/main" id="{8531E352-E96B-E1F2-BD41-B46F52EA7D57}"/>
              </a:ext>
            </a:extLst>
          </p:cNvPr>
          <p:cNvSpPr/>
          <p:nvPr/>
        </p:nvSpPr>
        <p:spPr>
          <a:xfrm>
            <a:off x="8886528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S</a:t>
            </a:r>
            <a:r>
              <a:rPr lang="it-IT" dirty="0"/>
              <a:t>ARA</a:t>
            </a:r>
            <a:endParaRPr dirty="0"/>
          </a:p>
        </p:txBody>
      </p:sp>
      <p:sp>
        <p:nvSpPr>
          <p:cNvPr id="125" name="+23,3% Vs Target">
            <a:extLst>
              <a:ext uri="{FF2B5EF4-FFF2-40B4-BE49-F238E27FC236}">
                <a16:creationId xmlns:a16="http://schemas.microsoft.com/office/drawing/2014/main" id="{D0AFDFD6-5816-1028-5808-3283231D0888}"/>
              </a:ext>
            </a:extLst>
          </p:cNvPr>
          <p:cNvSpPr/>
          <p:nvPr/>
        </p:nvSpPr>
        <p:spPr>
          <a:xfrm>
            <a:off x="8900040" y="3837560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>
                <a:solidFill>
                  <a:srgbClr val="046307"/>
                </a:solidFill>
              </a:rPr>
              <a:t>+2</a:t>
            </a:r>
            <a:r>
              <a:rPr lang="it-IT" dirty="0">
                <a:solidFill>
                  <a:srgbClr val="046307"/>
                </a:solidFill>
              </a:rPr>
              <a:t>5</a:t>
            </a:r>
            <a:r>
              <a:rPr dirty="0">
                <a:solidFill>
                  <a:srgbClr val="046307"/>
                </a:solidFill>
              </a:rPr>
              <a:t>,3% Vs Target</a:t>
            </a:r>
          </a:p>
        </p:txBody>
      </p:sp>
      <p:sp>
        <p:nvSpPr>
          <p:cNvPr id="35" name="Rettangolo arrotondato">
            <a:extLst>
              <a:ext uri="{FF2B5EF4-FFF2-40B4-BE49-F238E27FC236}">
                <a16:creationId xmlns:a16="http://schemas.microsoft.com/office/drawing/2014/main" id="{5DA2A640-F350-B560-7BB4-C5C518002F3A}"/>
              </a:ext>
            </a:extLst>
          </p:cNvPr>
          <p:cNvSpPr/>
          <p:nvPr/>
        </p:nvSpPr>
        <p:spPr>
          <a:xfrm>
            <a:off x="4826000" y="2055888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36" name="WEEKLY TREND">
            <a:extLst>
              <a:ext uri="{FF2B5EF4-FFF2-40B4-BE49-F238E27FC236}">
                <a16:creationId xmlns:a16="http://schemas.microsoft.com/office/drawing/2014/main" id="{B92B720E-4F5D-7370-6396-9DE55D7F09E2}"/>
              </a:ext>
            </a:extLst>
          </p:cNvPr>
          <p:cNvSpPr/>
          <p:nvPr/>
        </p:nvSpPr>
        <p:spPr>
          <a:xfrm>
            <a:off x="4826000" y="2046363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37" name="Grafico 36">
            <a:extLst>
              <a:ext uri="{FF2B5EF4-FFF2-40B4-BE49-F238E27FC236}">
                <a16:creationId xmlns:a16="http://schemas.microsoft.com/office/drawing/2014/main" id="{B43C7ACE-A962-437E-EA9F-0B949C58A4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91859"/>
              </p:ext>
            </p:extLst>
          </p:nvPr>
        </p:nvGraphicFramePr>
        <p:xfrm>
          <a:off x="5198381" y="3048226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5" name="Raggruppa">
            <a:extLst>
              <a:ext uri="{FF2B5EF4-FFF2-40B4-BE49-F238E27FC236}">
                <a16:creationId xmlns:a16="http://schemas.microsoft.com/office/drawing/2014/main" id="{F7B758F5-7A53-457E-1ACD-FEDA0D6B1A01}"/>
              </a:ext>
            </a:extLst>
          </p:cNvPr>
          <p:cNvGrpSpPr/>
          <p:nvPr/>
        </p:nvGrpSpPr>
        <p:grpSpPr>
          <a:xfrm>
            <a:off x="1150878" y="7163537"/>
            <a:ext cx="10160001" cy="1270001"/>
            <a:chOff x="0" y="0"/>
            <a:chExt cx="10160000" cy="1270000"/>
          </a:xfrm>
        </p:grpSpPr>
        <p:sp>
          <p:nvSpPr>
            <p:cNvPr id="21" name="Rettangolo arrotondato">
              <a:extLst>
                <a:ext uri="{FF2B5EF4-FFF2-40B4-BE49-F238E27FC236}">
                  <a16:creationId xmlns:a16="http://schemas.microsoft.com/office/drawing/2014/main" id="{8C025BDB-E1BD-76DB-E31E-22B0AEE93B8F}"/>
                </a:ext>
              </a:extLst>
            </p:cNvPr>
            <p:cNvSpPr/>
            <p:nvPr/>
          </p:nvSpPr>
          <p:spPr>
            <a:xfrm>
              <a:off x="0" y="0"/>
              <a:ext cx="10160000" cy="1270000"/>
            </a:xfrm>
            <a:prstGeom prst="roundRect">
              <a:avLst>
                <a:gd name="adj" fmla="val 1761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22" name="La W28 registra il fatturato più alto del mese, sostenuto dall’inizio dei saldi estivi, rimanendo pero al di sotto del budget previsto.">
              <a:extLst>
                <a:ext uri="{FF2B5EF4-FFF2-40B4-BE49-F238E27FC236}">
                  <a16:creationId xmlns:a16="http://schemas.microsoft.com/office/drawing/2014/main" id="{6F391981-268C-8887-B579-7F81E388551E}"/>
                </a:ext>
              </a:extLst>
            </p:cNvPr>
            <p:cNvSpPr txBox="1"/>
            <p:nvPr/>
          </p:nvSpPr>
          <p:spPr>
            <a:xfrm>
              <a:off x="35434" y="217450"/>
              <a:ext cx="10089132" cy="83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La </a:t>
              </a:r>
              <a:r>
                <a:rPr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W28</a:t>
              </a:r>
              <a:r>
                <a:rPr dirty="0"/>
                <a:t> </a:t>
              </a:r>
              <a:r>
                <a:rPr dirty="0" err="1"/>
                <a:t>registra</a:t>
              </a:r>
              <a:r>
                <a:rPr dirty="0"/>
                <a:t> il </a:t>
              </a:r>
              <a:r>
                <a:rPr dirty="0" err="1"/>
                <a:t>fatturato</a:t>
              </a:r>
              <a:r>
                <a:rPr dirty="0"/>
                <a:t> </a:t>
              </a:r>
              <a:r>
                <a:rPr dirty="0" err="1"/>
                <a:t>più</a:t>
              </a:r>
              <a:r>
                <a:rPr dirty="0"/>
                <a:t> alto del mese, sostenuto </a:t>
              </a:r>
              <a:r>
                <a:rPr dirty="0" err="1"/>
                <a:t>dall’inizio</a:t>
              </a:r>
              <a:r>
                <a:rPr dirty="0"/>
                <a:t> </a:t>
              </a:r>
              <a:r>
                <a:rPr dirty="0" err="1"/>
                <a:t>dei</a:t>
              </a:r>
              <a:r>
                <a:rPr dirty="0"/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saldi</a:t>
              </a:r>
              <a:r>
                <a:rPr i="1"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estivi</a:t>
              </a:r>
              <a:r>
                <a:rPr dirty="0"/>
                <a:t>, </a:t>
              </a:r>
              <a:r>
                <a:rPr dirty="0" err="1"/>
                <a:t>rimanendo</a:t>
              </a:r>
              <a:r>
                <a:rPr dirty="0"/>
                <a:t> per</a:t>
              </a:r>
              <a:r>
                <a:rPr lang="it-IT" dirty="0" err="1"/>
                <a:t>ò</a:t>
              </a:r>
              <a:r>
                <a:rPr dirty="0"/>
                <a:t> al di sotto del budget </a:t>
              </a:r>
              <a:r>
                <a:rPr dirty="0" err="1"/>
                <a:t>previsto</a:t>
              </a:r>
              <a:r>
                <a:rPr dirty="0"/>
                <a:t>.</a:t>
              </a:r>
            </a:p>
          </p:txBody>
        </p:sp>
      </p:grpSp>
      <p:sp>
        <p:nvSpPr>
          <p:cNvPr id="114" name="Titolo 1">
            <a:extLst>
              <a:ext uri="{FF2B5EF4-FFF2-40B4-BE49-F238E27FC236}">
                <a16:creationId xmlns:a16="http://schemas.microsoft.com/office/drawing/2014/main" id="{0445E25F-3423-7941-27B7-B8CD0A46E5A7}"/>
              </a:ext>
            </a:extLst>
          </p:cNvPr>
          <p:cNvSpPr txBox="1"/>
          <p:nvPr/>
        </p:nvSpPr>
        <p:spPr>
          <a:xfrm>
            <a:off x="23859" y="5804"/>
            <a:ext cx="12144282" cy="2114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defRPr sz="4500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dirty="0"/>
              <a:t>Monthly Store Performance</a:t>
            </a:r>
          </a:p>
        </p:txBody>
      </p:sp>
      <p:graphicFrame>
        <p:nvGraphicFramePr>
          <p:cNvPr id="121" name="Tabella 18">
            <a:extLst>
              <a:ext uri="{FF2B5EF4-FFF2-40B4-BE49-F238E27FC236}">
                <a16:creationId xmlns:a16="http://schemas.microsoft.com/office/drawing/2014/main" id="{009AC206-A50D-AE18-6242-63BA2AB8EB40}"/>
              </a:ext>
            </a:extLst>
          </p:cNvPr>
          <p:cNvGraphicFramePr/>
          <p:nvPr/>
        </p:nvGraphicFramePr>
        <p:xfrm>
          <a:off x="2032000" y="-2500378"/>
          <a:ext cx="8128000" cy="198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dirty="0"/>
                    </a:p>
                  </a:txBody>
                  <a:tcPr marL="45720" marR="45720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" name="Titolo 11">
            <a:extLst>
              <a:ext uri="{FF2B5EF4-FFF2-40B4-BE49-F238E27FC236}">
                <a16:creationId xmlns:a16="http://schemas.microsoft.com/office/drawing/2014/main" id="{D719FF3B-7F6D-8D54-10D0-5D01C4D476A5}"/>
              </a:ext>
            </a:extLst>
          </p:cNvPr>
          <p:cNvSpPr txBox="1"/>
          <p:nvPr/>
        </p:nvSpPr>
        <p:spPr>
          <a:xfrm>
            <a:off x="1524000" y="-2426093"/>
            <a:ext cx="9144000" cy="1831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ts val="5000"/>
              </a:lnSpc>
              <a:defRPr sz="6000">
                <a:latin typeface="Futura Bold"/>
                <a:ea typeface="Futura Bold"/>
                <a:cs typeface="Futura Bold"/>
                <a:sym typeface="Futura Bold"/>
              </a:defRPr>
            </a:lvl1pPr>
          </a:lstStyle>
          <a:p>
            <a:r>
              <a:t>OCTUPUS</a:t>
            </a:r>
          </a:p>
        </p:txBody>
      </p:sp>
      <p:sp>
        <p:nvSpPr>
          <p:cNvPr id="123" name="Sottotitolo 13">
            <a:extLst>
              <a:ext uri="{FF2B5EF4-FFF2-40B4-BE49-F238E27FC236}">
                <a16:creationId xmlns:a16="http://schemas.microsoft.com/office/drawing/2014/main" id="{DC9405D9-6BB5-8B50-19D9-49B671E32700}"/>
              </a:ext>
            </a:extLst>
          </p:cNvPr>
          <p:cNvSpPr txBox="1">
            <a:spLocks noGrp="1"/>
          </p:cNvSpPr>
          <p:nvPr>
            <p:ph type="subTitle" sz="quarter" idx="1"/>
          </p:nvPr>
        </p:nvSpPr>
        <p:spPr>
          <a:xfrm>
            <a:off x="4566744" y="-771343"/>
            <a:ext cx="3058511" cy="454955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>
              <a:defRPr>
                <a:latin typeface="Cochin"/>
                <a:ea typeface="Cochin"/>
                <a:cs typeface="Cochin"/>
                <a:sym typeface="Cochin"/>
              </a:defRPr>
            </a:lvl1pPr>
          </a:lstStyle>
          <a:p>
            <a:pPr defTabSz="813816">
              <a:spcBef>
                <a:spcPts val="800"/>
              </a:spcBef>
            </a:pPr>
            <a:r>
              <a:rPr sz="2136" dirty="0" err="1">
                <a:latin typeface="Avenir Next Regular"/>
                <a:sym typeface="Avenir Next Regular"/>
              </a:rPr>
              <a:t>Analisi</a:t>
            </a:r>
            <a:r>
              <a:rPr sz="2136" dirty="0">
                <a:latin typeface="Avenir Next Regular"/>
                <a:sym typeface="Avenir Next Regular"/>
              </a:rPr>
              <a:t> – </a:t>
            </a:r>
            <a:r>
              <a:rPr sz="2136" dirty="0" err="1">
                <a:latin typeface="Avenir Next Regular"/>
                <a:sym typeface="Avenir Next Regular"/>
              </a:rPr>
              <a:t>Luglio</a:t>
            </a:r>
            <a:r>
              <a:rPr sz="2136" dirty="0">
                <a:latin typeface="Avenir Next Regular"/>
                <a:sym typeface="Avenir Next Regular"/>
              </a:rPr>
              <a:t> 2026</a:t>
            </a:r>
          </a:p>
        </p:txBody>
      </p:sp>
      <p:sp>
        <p:nvSpPr>
          <p:cNvPr id="12" name="Rettangolo arrotondato">
            <a:extLst>
              <a:ext uri="{FF2B5EF4-FFF2-40B4-BE49-F238E27FC236}">
                <a16:creationId xmlns:a16="http://schemas.microsoft.com/office/drawing/2014/main" id="{03AC3850-AF20-8828-7C82-23EF77C0E2FB}"/>
              </a:ext>
            </a:extLst>
          </p:cNvPr>
          <p:cNvSpPr/>
          <p:nvPr/>
        </p:nvSpPr>
        <p:spPr>
          <a:xfrm>
            <a:off x="13990773" y="1701231"/>
            <a:ext cx="4078964" cy="1518892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sp>
        <p:nvSpPr>
          <p:cNvPr id="13" name="€54.257">
            <a:extLst>
              <a:ext uri="{FF2B5EF4-FFF2-40B4-BE49-F238E27FC236}">
                <a16:creationId xmlns:a16="http://schemas.microsoft.com/office/drawing/2014/main" id="{063CF932-8371-7BC9-6AF8-00825406F549}"/>
              </a:ext>
            </a:extLst>
          </p:cNvPr>
          <p:cNvSpPr txBox="1"/>
          <p:nvPr/>
        </p:nvSpPr>
        <p:spPr>
          <a:xfrm>
            <a:off x="14474244" y="1952430"/>
            <a:ext cx="336566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Fatturato: </a:t>
            </a:r>
            <a:r>
              <a:rPr dirty="0"/>
              <a:t>€54.25</a:t>
            </a:r>
            <a:r>
              <a:rPr lang="it-IT" dirty="0"/>
              <a:t>5</a:t>
            </a:r>
            <a:endParaRPr dirty="0"/>
          </a:p>
        </p:txBody>
      </p:sp>
      <p:sp>
        <p:nvSpPr>
          <p:cNvPr id="14" name="Target Budget: €73.871">
            <a:extLst>
              <a:ext uri="{FF2B5EF4-FFF2-40B4-BE49-F238E27FC236}">
                <a16:creationId xmlns:a16="http://schemas.microsoft.com/office/drawing/2014/main" id="{7B45DB24-20E9-864C-2668-4AF14168C4EC}"/>
              </a:ext>
            </a:extLst>
          </p:cNvPr>
          <p:cNvSpPr txBox="1"/>
          <p:nvPr/>
        </p:nvSpPr>
        <p:spPr>
          <a:xfrm>
            <a:off x="13990773" y="2650918"/>
            <a:ext cx="407896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Target Budget: €73.871</a:t>
            </a:r>
          </a:p>
        </p:txBody>
      </p:sp>
      <p:sp>
        <p:nvSpPr>
          <p:cNvPr id="39" name="Rettangolo arrotondato">
            <a:extLst>
              <a:ext uri="{FF2B5EF4-FFF2-40B4-BE49-F238E27FC236}">
                <a16:creationId xmlns:a16="http://schemas.microsoft.com/office/drawing/2014/main" id="{6F56930D-3E37-A504-2A4D-F1974CCFF948}"/>
              </a:ext>
            </a:extLst>
          </p:cNvPr>
          <p:cNvSpPr/>
          <p:nvPr/>
        </p:nvSpPr>
        <p:spPr>
          <a:xfrm>
            <a:off x="13990773" y="3908735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 dirty="0"/>
          </a:p>
        </p:txBody>
      </p:sp>
      <p:graphicFrame>
        <p:nvGraphicFramePr>
          <p:cNvPr id="40" name="Grafico 39">
            <a:extLst>
              <a:ext uri="{FF2B5EF4-FFF2-40B4-BE49-F238E27FC236}">
                <a16:creationId xmlns:a16="http://schemas.microsoft.com/office/drawing/2014/main" id="{C5F656BD-1922-905D-2E91-7248635CF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520933"/>
              </p:ext>
            </p:extLst>
          </p:nvPr>
        </p:nvGraphicFramePr>
        <p:xfrm>
          <a:off x="14095774" y="4645770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1" name="73%">
            <a:extLst>
              <a:ext uri="{FF2B5EF4-FFF2-40B4-BE49-F238E27FC236}">
                <a16:creationId xmlns:a16="http://schemas.microsoft.com/office/drawing/2014/main" id="{FF1D4CB8-ABEE-49F4-6E39-7FE7E08B960D}"/>
              </a:ext>
            </a:extLst>
          </p:cNvPr>
          <p:cNvSpPr>
            <a:spLocks noChangeAspect="1"/>
          </p:cNvSpPr>
          <p:nvPr/>
        </p:nvSpPr>
        <p:spPr>
          <a:xfrm>
            <a:off x="14545774" y="4896924"/>
            <a:ext cx="900000" cy="9000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73%</a:t>
            </a:r>
          </a:p>
        </p:txBody>
      </p:sp>
      <p:sp>
        <p:nvSpPr>
          <p:cNvPr id="42" name="Vs Budget">
            <a:extLst>
              <a:ext uri="{FF2B5EF4-FFF2-40B4-BE49-F238E27FC236}">
                <a16:creationId xmlns:a16="http://schemas.microsoft.com/office/drawing/2014/main" id="{D10D64AA-DE88-40E8-F554-8DA5610B1CED}"/>
              </a:ext>
            </a:extLst>
          </p:cNvPr>
          <p:cNvSpPr txBox="1"/>
          <p:nvPr/>
        </p:nvSpPr>
        <p:spPr>
          <a:xfrm>
            <a:off x="13990773" y="4169810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Budget</a:t>
            </a:r>
          </a:p>
        </p:txBody>
      </p:sp>
      <p:sp>
        <p:nvSpPr>
          <p:cNvPr id="43" name="Rettangolo arrotondato">
            <a:extLst>
              <a:ext uri="{FF2B5EF4-FFF2-40B4-BE49-F238E27FC236}">
                <a16:creationId xmlns:a16="http://schemas.microsoft.com/office/drawing/2014/main" id="{01BD5A75-4A13-0046-1034-74A2659CC48B}"/>
              </a:ext>
            </a:extLst>
          </p:cNvPr>
          <p:cNvSpPr/>
          <p:nvPr/>
        </p:nvSpPr>
        <p:spPr>
          <a:xfrm>
            <a:off x="16209475" y="3942334"/>
            <a:ext cx="1905001" cy="2857501"/>
          </a:xfrm>
          <a:prstGeom prst="roundRect">
            <a:avLst>
              <a:gd name="adj" fmla="val 11745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aphicFrame>
        <p:nvGraphicFramePr>
          <p:cNvPr id="44" name="Grafico ad anello 2D">
            <a:extLst>
              <a:ext uri="{FF2B5EF4-FFF2-40B4-BE49-F238E27FC236}">
                <a16:creationId xmlns:a16="http://schemas.microsoft.com/office/drawing/2014/main" id="{BABD1F54-327C-29D9-308C-903EFD20E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660031"/>
              </p:ext>
            </p:extLst>
          </p:nvPr>
        </p:nvGraphicFramePr>
        <p:xfrm>
          <a:off x="16213273" y="4414487"/>
          <a:ext cx="19008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Grafico 44">
            <a:extLst>
              <a:ext uri="{FF2B5EF4-FFF2-40B4-BE49-F238E27FC236}">
                <a16:creationId xmlns:a16="http://schemas.microsoft.com/office/drawing/2014/main" id="{01B0E846-D398-FD21-DB0C-F3A1F2D36B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1562581"/>
              </p:ext>
            </p:extLst>
          </p:nvPr>
        </p:nvGraphicFramePr>
        <p:xfrm>
          <a:off x="16264814" y="4559189"/>
          <a:ext cx="180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6" name="85%">
            <a:extLst>
              <a:ext uri="{FF2B5EF4-FFF2-40B4-BE49-F238E27FC236}">
                <a16:creationId xmlns:a16="http://schemas.microsoft.com/office/drawing/2014/main" id="{5DF33117-BFC5-B231-6512-5E2E625A0E9D}"/>
              </a:ext>
            </a:extLst>
          </p:cNvPr>
          <p:cNvSpPr/>
          <p:nvPr/>
        </p:nvSpPr>
        <p:spPr>
          <a:xfrm>
            <a:off x="16715016" y="4809007"/>
            <a:ext cx="900000" cy="90000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85%</a:t>
            </a:r>
          </a:p>
        </p:txBody>
      </p:sp>
      <p:sp>
        <p:nvSpPr>
          <p:cNvPr id="47" name="Vs LY">
            <a:extLst>
              <a:ext uri="{FF2B5EF4-FFF2-40B4-BE49-F238E27FC236}">
                <a16:creationId xmlns:a16="http://schemas.microsoft.com/office/drawing/2014/main" id="{AAF5ADF6-CB27-AFC6-765C-4EFA37FC4D0E}"/>
              </a:ext>
            </a:extLst>
          </p:cNvPr>
          <p:cNvSpPr txBox="1"/>
          <p:nvPr/>
        </p:nvSpPr>
        <p:spPr>
          <a:xfrm>
            <a:off x="16209475" y="4169810"/>
            <a:ext cx="19050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Vs LY</a:t>
            </a:r>
          </a:p>
        </p:txBody>
      </p:sp>
      <p:sp>
        <p:nvSpPr>
          <p:cNvPr id="48" name="- €19.614">
            <a:extLst>
              <a:ext uri="{FF2B5EF4-FFF2-40B4-BE49-F238E27FC236}">
                <a16:creationId xmlns:a16="http://schemas.microsoft.com/office/drawing/2014/main" id="{0B219897-5BFD-DD2E-168A-2D6FDCD6C1D5}"/>
              </a:ext>
            </a:extLst>
          </p:cNvPr>
          <p:cNvSpPr txBox="1"/>
          <p:nvPr/>
        </p:nvSpPr>
        <p:spPr>
          <a:xfrm>
            <a:off x="13971129" y="6152789"/>
            <a:ext cx="1888606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€19.61</a:t>
            </a:r>
            <a:r>
              <a:rPr lang="it-IT" dirty="0"/>
              <a:t>6</a:t>
            </a:r>
          </a:p>
        </p:txBody>
      </p:sp>
      <p:sp>
        <p:nvSpPr>
          <p:cNvPr id="49" name="-  €9.562">
            <a:extLst>
              <a:ext uri="{FF2B5EF4-FFF2-40B4-BE49-F238E27FC236}">
                <a16:creationId xmlns:a16="http://schemas.microsoft.com/office/drawing/2014/main" id="{71EF8333-94FB-28D9-B1D3-33C4D273AAC1}"/>
              </a:ext>
            </a:extLst>
          </p:cNvPr>
          <p:cNvSpPr txBox="1"/>
          <p:nvPr/>
        </p:nvSpPr>
        <p:spPr>
          <a:xfrm>
            <a:off x="16181236" y="6143890"/>
            <a:ext cx="188850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-  €9.56</a:t>
            </a:r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5209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Raggruppa"/>
          <p:cNvGrpSpPr/>
          <p:nvPr/>
        </p:nvGrpSpPr>
        <p:grpSpPr>
          <a:xfrm>
            <a:off x="1150878" y="5131537"/>
            <a:ext cx="10160001" cy="1270001"/>
            <a:chOff x="0" y="0"/>
            <a:chExt cx="10160000" cy="1270000"/>
          </a:xfrm>
        </p:grpSpPr>
        <p:sp>
          <p:nvSpPr>
            <p:cNvPr id="194" name="Rettangolo arrotondato"/>
            <p:cNvSpPr/>
            <p:nvPr/>
          </p:nvSpPr>
          <p:spPr>
            <a:xfrm>
              <a:off x="0" y="0"/>
              <a:ext cx="10160000" cy="1270000"/>
            </a:xfrm>
            <a:prstGeom prst="roundRect">
              <a:avLst>
                <a:gd name="adj" fmla="val 1761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195" name="La W28 registra il fatturato più alto del mese, sostenuto dall’inizio dei saldi estivi, rimanendo pero al di sotto del budget previsto."/>
            <p:cNvSpPr txBox="1"/>
            <p:nvPr/>
          </p:nvSpPr>
          <p:spPr>
            <a:xfrm>
              <a:off x="35434" y="217450"/>
              <a:ext cx="10089132" cy="83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La </a:t>
              </a:r>
              <a:r>
                <a:rPr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W28</a:t>
              </a:r>
              <a:r>
                <a:rPr dirty="0"/>
                <a:t> </a:t>
              </a:r>
              <a:r>
                <a:rPr dirty="0" err="1"/>
                <a:t>registra</a:t>
              </a:r>
              <a:r>
                <a:rPr dirty="0"/>
                <a:t> il </a:t>
              </a:r>
              <a:r>
                <a:rPr dirty="0" err="1"/>
                <a:t>fatturato</a:t>
              </a:r>
              <a:r>
                <a:rPr dirty="0"/>
                <a:t> </a:t>
              </a:r>
              <a:r>
                <a:rPr dirty="0" err="1"/>
                <a:t>più</a:t>
              </a:r>
              <a:r>
                <a:rPr dirty="0"/>
                <a:t> alto del mese, sostenuto </a:t>
              </a:r>
              <a:r>
                <a:rPr dirty="0" err="1"/>
                <a:t>dall’inizio</a:t>
              </a:r>
              <a:r>
                <a:rPr dirty="0"/>
                <a:t> </a:t>
              </a:r>
              <a:r>
                <a:rPr dirty="0" err="1"/>
                <a:t>dei</a:t>
              </a:r>
              <a:r>
                <a:rPr dirty="0"/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saldi</a:t>
              </a:r>
              <a:r>
                <a:rPr i="1"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estivi</a:t>
              </a:r>
              <a:r>
                <a:rPr dirty="0"/>
                <a:t>, </a:t>
              </a:r>
              <a:r>
                <a:rPr dirty="0" err="1"/>
                <a:t>rimanendo</a:t>
              </a:r>
              <a:r>
                <a:rPr dirty="0"/>
                <a:t> per</a:t>
              </a:r>
              <a:r>
                <a:rPr lang="it-IT" dirty="0" err="1"/>
                <a:t>ò</a:t>
              </a:r>
              <a:r>
                <a:rPr dirty="0"/>
                <a:t> al di sotto del budget </a:t>
              </a:r>
              <a:r>
                <a:rPr dirty="0" err="1"/>
                <a:t>previsto</a:t>
              </a:r>
              <a:r>
                <a:rPr dirty="0"/>
                <a:t>.</a:t>
              </a:r>
            </a:p>
          </p:txBody>
        </p:sp>
      </p:grpSp>
      <p:sp>
        <p:nvSpPr>
          <p:cNvPr id="191" name="Rettangolo arrotondato"/>
          <p:cNvSpPr/>
          <p:nvPr/>
        </p:nvSpPr>
        <p:spPr>
          <a:xfrm>
            <a:off x="2818369" y="1587500"/>
            <a:ext cx="6350001" cy="3175000"/>
          </a:xfrm>
          <a:prstGeom prst="roundRect">
            <a:avLst>
              <a:gd name="adj" fmla="val 11964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92" name="Titolo 1"/>
          <p:cNvSpPr txBox="1"/>
          <p:nvPr/>
        </p:nvSpPr>
        <p:spPr>
          <a:xfrm>
            <a:off x="2560223" y="-28946"/>
            <a:ext cx="7238288" cy="1831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defRPr sz="4500">
                <a:solidFill>
                  <a:srgbClr val="2E2910"/>
                </a:solidFill>
                <a:latin typeface="Futura"/>
                <a:ea typeface="Futura"/>
                <a:cs typeface="Futura"/>
                <a:sym typeface="Futura"/>
              </a:defRPr>
            </a:lvl1pPr>
          </a:lstStyle>
          <a:p>
            <a:r>
              <a:t>WEEKLY TREND</a:t>
            </a:r>
          </a:p>
        </p:txBody>
      </p:sp>
      <p:sp>
        <p:nvSpPr>
          <p:cNvPr id="197" name="Rettangolo arrotondato"/>
          <p:cNvSpPr/>
          <p:nvPr/>
        </p:nvSpPr>
        <p:spPr>
          <a:xfrm>
            <a:off x="766271" y="714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98" name="Rettangolo arrotondato"/>
          <p:cNvSpPr/>
          <p:nvPr/>
        </p:nvSpPr>
        <p:spPr>
          <a:xfrm>
            <a:off x="8885728" y="714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99" name="PEOPLE ANALYTICS"/>
          <p:cNvSpPr/>
          <p:nvPr/>
        </p:nvSpPr>
        <p:spPr>
          <a:xfrm>
            <a:off x="8876203" y="7131061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200" name="SCOSTAMENTO…"/>
          <p:cNvSpPr/>
          <p:nvPr/>
        </p:nvSpPr>
        <p:spPr>
          <a:xfrm>
            <a:off x="780559" y="7135108"/>
            <a:ext cx="2540001" cy="3194294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DAL BUDGET</a:t>
            </a:r>
          </a:p>
        </p:txBody>
      </p:sp>
      <p:sp>
        <p:nvSpPr>
          <p:cNvPr id="201" name="€54.257 | 73%"/>
          <p:cNvSpPr/>
          <p:nvPr/>
        </p:nvSpPr>
        <p:spPr>
          <a:xfrm>
            <a:off x="761509" y="815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202" name="Target Budget: €73.871…"/>
          <p:cNvSpPr/>
          <p:nvPr/>
        </p:nvSpPr>
        <p:spPr>
          <a:xfrm>
            <a:off x="761509" y="893176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203" name="SHARON H."/>
          <p:cNvSpPr/>
          <p:nvPr/>
        </p:nvSpPr>
        <p:spPr>
          <a:xfrm>
            <a:off x="8886528" y="815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SARA</a:t>
            </a:r>
            <a:endParaRPr dirty="0"/>
          </a:p>
        </p:txBody>
      </p:sp>
      <p:sp>
        <p:nvSpPr>
          <p:cNvPr id="204" name="+23,3% Vs Target"/>
          <p:cNvSpPr/>
          <p:nvPr/>
        </p:nvSpPr>
        <p:spPr>
          <a:xfrm>
            <a:off x="8900040" y="8917560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+2</a:t>
            </a:r>
            <a:r>
              <a:rPr lang="it-IT" dirty="0"/>
              <a:t>5</a:t>
            </a:r>
            <a:r>
              <a:rPr dirty="0"/>
              <a:t>,3% Vs Target</a:t>
            </a:r>
          </a:p>
        </p:txBody>
      </p:sp>
      <p:sp>
        <p:nvSpPr>
          <p:cNvPr id="205" name="Titolo 1"/>
          <p:cNvSpPr txBox="1"/>
          <p:nvPr/>
        </p:nvSpPr>
        <p:spPr>
          <a:xfrm>
            <a:off x="1524000" y="-1436552"/>
            <a:ext cx="9144000" cy="1368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algn="ctr" defTabSz="886968">
              <a:lnSpc>
                <a:spcPct val="90000"/>
              </a:lnSpc>
              <a:defRPr sz="4365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Monthly Store Performance</a:t>
            </a:r>
          </a:p>
        </p:txBody>
      </p:sp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DEEDACD0-FFBD-B00F-BD98-E0580EC75D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8156625"/>
              </p:ext>
            </p:extLst>
          </p:nvPr>
        </p:nvGraphicFramePr>
        <p:xfrm>
          <a:off x="3492116" y="2022662"/>
          <a:ext cx="5002506" cy="2304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aggruppa">
            <a:extLst>
              <a:ext uri="{FF2B5EF4-FFF2-40B4-BE49-F238E27FC236}">
                <a16:creationId xmlns:a16="http://schemas.microsoft.com/office/drawing/2014/main" id="{3F5D9821-FEA5-109B-9D95-052432466ADF}"/>
              </a:ext>
            </a:extLst>
          </p:cNvPr>
          <p:cNvGrpSpPr/>
          <p:nvPr/>
        </p:nvGrpSpPr>
        <p:grpSpPr>
          <a:xfrm>
            <a:off x="1015999" y="7038865"/>
            <a:ext cx="10160001" cy="1270001"/>
            <a:chOff x="0" y="0"/>
            <a:chExt cx="10160000" cy="1270000"/>
          </a:xfrm>
        </p:grpSpPr>
        <p:sp>
          <p:nvSpPr>
            <p:cNvPr id="4" name="Rettangolo arrotondato">
              <a:extLst>
                <a:ext uri="{FF2B5EF4-FFF2-40B4-BE49-F238E27FC236}">
                  <a16:creationId xmlns:a16="http://schemas.microsoft.com/office/drawing/2014/main" id="{46338BB1-BF32-6590-16A9-64598E1F36A1}"/>
                </a:ext>
              </a:extLst>
            </p:cNvPr>
            <p:cNvSpPr/>
            <p:nvPr/>
          </p:nvSpPr>
          <p:spPr>
            <a:xfrm>
              <a:off x="0" y="0"/>
              <a:ext cx="10160000" cy="1270000"/>
            </a:xfrm>
            <a:prstGeom prst="roundRect">
              <a:avLst>
                <a:gd name="adj" fmla="val 1761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6" name="La W28 registra il fatturato più alto del mese, sostenuto dall’inizio dei saldi estivi, rimanendo pero al di sotto del budget previsto.">
              <a:extLst>
                <a:ext uri="{FF2B5EF4-FFF2-40B4-BE49-F238E27FC236}">
                  <a16:creationId xmlns:a16="http://schemas.microsoft.com/office/drawing/2014/main" id="{A438D65E-7AB7-AC2C-BA6B-BDD7955F6CAF}"/>
                </a:ext>
              </a:extLst>
            </p:cNvPr>
            <p:cNvSpPr txBox="1"/>
            <p:nvPr/>
          </p:nvSpPr>
          <p:spPr>
            <a:xfrm>
              <a:off x="35434" y="217450"/>
              <a:ext cx="10089132" cy="83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spAutoFit/>
            </a:bodyPr>
            <a:lstStyle/>
            <a:p>
              <a:pPr>
                <a:lnSpc>
                  <a:spcPct val="120000"/>
                </a:lnSpc>
                <a:defRPr sz="1600">
                  <a:solidFill>
                    <a:srgbClr val="8080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La </a:t>
              </a:r>
              <a:r>
                <a:rPr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W28</a:t>
              </a:r>
              <a:r>
                <a:rPr dirty="0"/>
                <a:t> </a:t>
              </a:r>
              <a:r>
                <a:rPr dirty="0" err="1"/>
                <a:t>registra</a:t>
              </a:r>
              <a:r>
                <a:rPr dirty="0"/>
                <a:t> il </a:t>
              </a:r>
              <a:r>
                <a:rPr dirty="0" err="1"/>
                <a:t>fatturato</a:t>
              </a:r>
              <a:r>
                <a:rPr dirty="0"/>
                <a:t> </a:t>
              </a:r>
              <a:r>
                <a:rPr dirty="0" err="1"/>
                <a:t>più</a:t>
              </a:r>
              <a:r>
                <a:rPr dirty="0"/>
                <a:t> alto del mese, sostenuto </a:t>
              </a:r>
              <a:r>
                <a:rPr dirty="0" err="1"/>
                <a:t>dall’inizio</a:t>
              </a:r>
              <a:r>
                <a:rPr dirty="0"/>
                <a:t> </a:t>
              </a:r>
              <a:r>
                <a:rPr dirty="0" err="1"/>
                <a:t>dei</a:t>
              </a:r>
              <a:r>
                <a:rPr dirty="0"/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saldi</a:t>
              </a:r>
              <a:r>
                <a:rPr i="1" dirty="0">
                  <a:latin typeface="Avenir Next Medium"/>
                  <a:ea typeface="Avenir Next Medium"/>
                  <a:cs typeface="Avenir Next Medium"/>
                  <a:sym typeface="Avenir Next Medium"/>
                </a:rPr>
                <a:t> </a:t>
              </a:r>
              <a:r>
                <a:rPr i="1" dirty="0" err="1">
                  <a:latin typeface="Avenir Next Medium"/>
                  <a:ea typeface="Avenir Next Medium"/>
                  <a:cs typeface="Avenir Next Medium"/>
                  <a:sym typeface="Avenir Next Medium"/>
                </a:rPr>
                <a:t>estivi</a:t>
              </a:r>
              <a:r>
                <a:rPr dirty="0"/>
                <a:t>, </a:t>
              </a:r>
              <a:r>
                <a:rPr dirty="0" err="1"/>
                <a:t>rimanendo</a:t>
              </a:r>
              <a:r>
                <a:rPr dirty="0"/>
                <a:t> per</a:t>
              </a:r>
              <a:r>
                <a:rPr lang="it-IT" dirty="0" err="1"/>
                <a:t>ò</a:t>
              </a:r>
              <a:r>
                <a:rPr dirty="0"/>
                <a:t> al di sotto del budget </a:t>
              </a:r>
              <a:r>
                <a:rPr dirty="0" err="1"/>
                <a:t>previsto</a:t>
              </a:r>
              <a:r>
                <a:rPr dirty="0"/>
                <a:t>.</a:t>
              </a:r>
            </a:p>
          </p:txBody>
        </p:sp>
      </p:grpSp>
      <p:sp>
        <p:nvSpPr>
          <p:cNvPr id="207" name="Rettangolo arrotondato.3"/>
          <p:cNvSpPr/>
          <p:nvPr/>
        </p:nvSpPr>
        <p:spPr>
          <a:xfrm>
            <a:off x="8885728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 dirty="0"/>
          </a:p>
        </p:txBody>
      </p:sp>
      <p:sp>
        <p:nvSpPr>
          <p:cNvPr id="208" name="PEOPLE ANALYTICS"/>
          <p:cNvSpPr/>
          <p:nvPr/>
        </p:nvSpPr>
        <p:spPr>
          <a:xfrm>
            <a:off x="8876203" y="2051061"/>
            <a:ext cx="2540001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PEOPLE ANALYTICS</a:t>
            </a:r>
          </a:p>
        </p:txBody>
      </p:sp>
      <p:sp>
        <p:nvSpPr>
          <p:cNvPr id="210" name="Titolo 1"/>
          <p:cNvSpPr txBox="1"/>
          <p:nvPr/>
        </p:nvSpPr>
        <p:spPr>
          <a:xfrm>
            <a:off x="1524000" y="87448"/>
            <a:ext cx="9144000" cy="1368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algn="ctr" defTabSz="886968">
              <a:lnSpc>
                <a:spcPct val="90000"/>
              </a:lnSpc>
              <a:defRPr sz="4365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Monthly Store Performance</a:t>
            </a:r>
          </a:p>
        </p:txBody>
      </p:sp>
      <p:sp>
        <p:nvSpPr>
          <p:cNvPr id="213" name="Rettangolo arrotondato.1"/>
          <p:cNvSpPr/>
          <p:nvPr/>
        </p:nvSpPr>
        <p:spPr>
          <a:xfrm>
            <a:off x="766271" y="2060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14" name="SCOSTAMENTO…"/>
          <p:cNvSpPr/>
          <p:nvPr/>
        </p:nvSpPr>
        <p:spPr>
          <a:xfrm>
            <a:off x="780559" y="2055108"/>
            <a:ext cx="2540001" cy="3194294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DAL BUDGET</a:t>
            </a:r>
          </a:p>
        </p:txBody>
      </p:sp>
      <p:sp>
        <p:nvSpPr>
          <p:cNvPr id="215" name="€54.257 | 73%"/>
          <p:cNvSpPr/>
          <p:nvPr/>
        </p:nvSpPr>
        <p:spPr>
          <a:xfrm>
            <a:off x="761509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216" name="Target Budget: €73.871…"/>
          <p:cNvSpPr/>
          <p:nvPr/>
        </p:nvSpPr>
        <p:spPr>
          <a:xfrm>
            <a:off x="761509" y="385176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217" name="SHARON H."/>
          <p:cNvSpPr/>
          <p:nvPr/>
        </p:nvSpPr>
        <p:spPr>
          <a:xfrm>
            <a:off x="8886528" y="3075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SARA</a:t>
            </a:r>
            <a:endParaRPr dirty="0"/>
          </a:p>
        </p:txBody>
      </p:sp>
      <p:sp>
        <p:nvSpPr>
          <p:cNvPr id="218" name="+23,3% Vs Target"/>
          <p:cNvSpPr/>
          <p:nvPr/>
        </p:nvSpPr>
        <p:spPr>
          <a:xfrm>
            <a:off x="8900040" y="3837560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>
                <a:solidFill>
                  <a:srgbClr val="046307"/>
                </a:solidFill>
              </a:rPr>
              <a:t>+2</a:t>
            </a:r>
            <a:r>
              <a:rPr lang="it-IT" dirty="0">
                <a:solidFill>
                  <a:srgbClr val="046307"/>
                </a:solidFill>
              </a:rPr>
              <a:t>5</a:t>
            </a:r>
            <a:r>
              <a:rPr dirty="0">
                <a:solidFill>
                  <a:srgbClr val="046307"/>
                </a:solidFill>
              </a:rPr>
              <a:t>,3% Vs Target</a:t>
            </a:r>
          </a:p>
        </p:txBody>
      </p:sp>
      <p:sp>
        <p:nvSpPr>
          <p:cNvPr id="219" name="CATEGORIE"/>
          <p:cNvSpPr txBox="1"/>
          <p:nvPr/>
        </p:nvSpPr>
        <p:spPr>
          <a:xfrm>
            <a:off x="-2705678" y="866362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CATEGORIE</a:t>
            </a:r>
          </a:p>
        </p:txBody>
      </p:sp>
      <p:sp>
        <p:nvSpPr>
          <p:cNvPr id="220" name="Vendite (€)">
            <a:hlinkClick r:id="rId2" action="ppaction://hlinksldjump"/>
          </p:cNvPr>
          <p:cNvSpPr/>
          <p:nvPr/>
        </p:nvSpPr>
        <p:spPr>
          <a:xfrm>
            <a:off x="-2542093" y="1778448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Vendite (€)</a:t>
            </a:r>
          </a:p>
        </p:txBody>
      </p:sp>
      <p:sp>
        <p:nvSpPr>
          <p:cNvPr id="221" name="Scostamento Vs Target (%)">
            <a:hlinkClick r:id="rId3" action="ppaction://hlinksldjump"/>
          </p:cNvPr>
          <p:cNvSpPr/>
          <p:nvPr/>
        </p:nvSpPr>
        <p:spPr>
          <a:xfrm>
            <a:off x="-2542093" y="2914253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Scostamento Vs Target (%)</a:t>
            </a:r>
          </a:p>
        </p:txBody>
      </p:sp>
      <p:sp>
        <p:nvSpPr>
          <p:cNvPr id="222" name="Scontrino Medio (€)"/>
          <p:cNvSpPr/>
          <p:nvPr/>
        </p:nvSpPr>
        <p:spPr>
          <a:xfrm>
            <a:off x="-2542093" y="4050057"/>
            <a:ext cx="2290186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Scontrino Medio (€)</a:t>
            </a:r>
          </a:p>
        </p:txBody>
      </p:sp>
      <p:sp>
        <p:nvSpPr>
          <p:cNvPr id="223" name="UPT">
            <a:hlinkClick r:id="rId4" action="ppaction://hlinksldjump"/>
          </p:cNvPr>
          <p:cNvSpPr/>
          <p:nvPr/>
        </p:nvSpPr>
        <p:spPr>
          <a:xfrm>
            <a:off x="-2542093" y="5185862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sp>
        <p:nvSpPr>
          <p:cNvPr id="13" name="Rettangolo arrotondato">
            <a:extLst>
              <a:ext uri="{FF2B5EF4-FFF2-40B4-BE49-F238E27FC236}">
                <a16:creationId xmlns:a16="http://schemas.microsoft.com/office/drawing/2014/main" id="{187D815E-7227-E44B-3A31-FA36D1E85A61}"/>
              </a:ext>
            </a:extLst>
          </p:cNvPr>
          <p:cNvSpPr/>
          <p:nvPr/>
        </p:nvSpPr>
        <p:spPr>
          <a:xfrm>
            <a:off x="4826000" y="2055888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14" name="WEEKLY TREND">
            <a:extLst>
              <a:ext uri="{FF2B5EF4-FFF2-40B4-BE49-F238E27FC236}">
                <a16:creationId xmlns:a16="http://schemas.microsoft.com/office/drawing/2014/main" id="{515A22B3-8D00-BFEF-E50C-3503C1106A51}"/>
              </a:ext>
            </a:extLst>
          </p:cNvPr>
          <p:cNvSpPr/>
          <p:nvPr/>
        </p:nvSpPr>
        <p:spPr>
          <a:xfrm>
            <a:off x="4826000" y="2046363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15" name="Grafico 14">
            <a:extLst>
              <a:ext uri="{FF2B5EF4-FFF2-40B4-BE49-F238E27FC236}">
                <a16:creationId xmlns:a16="http://schemas.microsoft.com/office/drawing/2014/main" id="{B3C39539-A13B-D5E1-BC3B-DC99F219A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450658"/>
              </p:ext>
            </p:extLst>
          </p:nvPr>
        </p:nvGraphicFramePr>
        <p:xfrm>
          <a:off x="5198381" y="3048226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ttangolo arrotondato"/>
          <p:cNvSpPr/>
          <p:nvPr/>
        </p:nvSpPr>
        <p:spPr>
          <a:xfrm>
            <a:off x="12449239" y="399661"/>
            <a:ext cx="7450562" cy="3810000"/>
          </a:xfrm>
          <a:prstGeom prst="roundRect">
            <a:avLst>
              <a:gd name="adj" fmla="val 997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232" name="Rettangolo arrotondato"/>
          <p:cNvSpPr/>
          <p:nvPr/>
        </p:nvSpPr>
        <p:spPr>
          <a:xfrm>
            <a:off x="4787322" y="1574539"/>
            <a:ext cx="2617356" cy="47625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Avenir Book"/>
            </a:endParaRPr>
          </a:p>
        </p:txBody>
      </p:sp>
      <p:sp>
        <p:nvSpPr>
          <p:cNvPr id="233" name="CATEGORIE"/>
          <p:cNvSpPr txBox="1"/>
          <p:nvPr/>
        </p:nvSpPr>
        <p:spPr>
          <a:xfrm>
            <a:off x="4787322" y="1785887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CATEGORIE</a:t>
            </a:r>
          </a:p>
        </p:txBody>
      </p:sp>
      <p:sp>
        <p:nvSpPr>
          <p:cNvPr id="234" name="Vendite (€)">
            <a:hlinkClick r:id="rId2" action="ppaction://hlinksldjump"/>
          </p:cNvPr>
          <p:cNvSpPr/>
          <p:nvPr/>
        </p:nvSpPr>
        <p:spPr>
          <a:xfrm>
            <a:off x="4950907" y="2508437"/>
            <a:ext cx="2290186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Vendite (€)</a:t>
            </a:r>
          </a:p>
        </p:txBody>
      </p:sp>
      <p:sp>
        <p:nvSpPr>
          <p:cNvPr id="235" name="Scostamento Vs Target (%)">
            <a:hlinkClick r:id="rId3" action="ppaction://hlinksldjump"/>
          </p:cNvPr>
          <p:cNvSpPr/>
          <p:nvPr/>
        </p:nvSpPr>
        <p:spPr>
          <a:xfrm>
            <a:off x="4950907" y="3453742"/>
            <a:ext cx="2290186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Scostamento Vs Target (%)</a:t>
            </a:r>
          </a:p>
        </p:txBody>
      </p:sp>
      <p:sp>
        <p:nvSpPr>
          <p:cNvPr id="236" name="Scontrino Medio (€)"/>
          <p:cNvSpPr/>
          <p:nvPr/>
        </p:nvSpPr>
        <p:spPr>
          <a:xfrm>
            <a:off x="4950906" y="4399046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Scontrino</a:t>
            </a:r>
            <a:r>
              <a:rPr dirty="0"/>
              <a:t> Medio (€)</a:t>
            </a:r>
          </a:p>
        </p:txBody>
      </p:sp>
      <p:sp>
        <p:nvSpPr>
          <p:cNvPr id="237" name="UPT">
            <a:hlinkClick r:id="rId4" action="ppaction://hlinksldjump"/>
          </p:cNvPr>
          <p:cNvSpPr/>
          <p:nvPr/>
        </p:nvSpPr>
        <p:spPr>
          <a:xfrm>
            <a:off x="4950906" y="5344352"/>
            <a:ext cx="2290187" cy="6543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sp>
        <p:nvSpPr>
          <p:cNvPr id="242" name="Rettangolo arrotondato.1"/>
          <p:cNvSpPr/>
          <p:nvPr/>
        </p:nvSpPr>
        <p:spPr>
          <a:xfrm>
            <a:off x="766271" y="9426586"/>
            <a:ext cx="2540001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43" name="SCOSTAMENTO…"/>
          <p:cNvSpPr/>
          <p:nvPr/>
        </p:nvSpPr>
        <p:spPr>
          <a:xfrm>
            <a:off x="780559" y="9548108"/>
            <a:ext cx="2540001" cy="3194294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/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SCOSTAMENTO</a:t>
            </a:r>
          </a:p>
          <a:p>
            <a: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DAL BUDGET</a:t>
            </a:r>
          </a:p>
        </p:txBody>
      </p:sp>
      <p:sp>
        <p:nvSpPr>
          <p:cNvPr id="244" name="€54.257 | 73%"/>
          <p:cNvSpPr/>
          <p:nvPr/>
        </p:nvSpPr>
        <p:spPr>
          <a:xfrm>
            <a:off x="761509" y="10441628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dirty="0"/>
              <a:t>€54.25</a:t>
            </a:r>
            <a:r>
              <a:rPr lang="it-IT" dirty="0"/>
              <a:t>5</a:t>
            </a:r>
            <a:r>
              <a:rPr dirty="0"/>
              <a:t> | 73%</a:t>
            </a:r>
          </a:p>
        </p:txBody>
      </p:sp>
      <p:sp>
        <p:nvSpPr>
          <p:cNvPr id="245" name="Target Budget: €73.871…"/>
          <p:cNvSpPr/>
          <p:nvPr/>
        </p:nvSpPr>
        <p:spPr>
          <a:xfrm>
            <a:off x="761509" y="11217765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Target Budget: €73.871 </a:t>
            </a:r>
          </a:p>
          <a:p>
            <a:pPr algn="ctr">
              <a:defRPr sz="1600">
                <a:solidFill>
                  <a:srgbClr val="8B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Vs Target: - €19.61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246" name="Titolo 1"/>
          <p:cNvSpPr txBox="1"/>
          <p:nvPr/>
        </p:nvSpPr>
        <p:spPr>
          <a:xfrm>
            <a:off x="2522500" y="-16971"/>
            <a:ext cx="7238288" cy="1831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defRPr sz="4500">
                <a:solidFill>
                  <a:srgbClr val="2E2910"/>
                </a:solidFill>
                <a:latin typeface="Futura"/>
                <a:ea typeface="Futura"/>
                <a:cs typeface="Futura"/>
                <a:sym typeface="Futura"/>
              </a:defRPr>
            </a:lvl1pPr>
          </a:lstStyle>
          <a:p>
            <a:r>
              <a:t>PEOPLE ANALYTICS</a:t>
            </a:r>
          </a:p>
        </p:txBody>
      </p:sp>
      <p:sp>
        <p:nvSpPr>
          <p:cNvPr id="247" name="Titolo 1"/>
          <p:cNvSpPr txBox="1"/>
          <p:nvPr/>
        </p:nvSpPr>
        <p:spPr>
          <a:xfrm>
            <a:off x="-9398000" y="-39552"/>
            <a:ext cx="9144000" cy="1368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algn="ctr" defTabSz="886968">
              <a:lnSpc>
                <a:spcPct val="90000"/>
              </a:lnSpc>
              <a:defRPr sz="4365" cap="all">
                <a:solidFill>
                  <a:srgbClr val="2E291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Monthly Store Performance</a:t>
            </a:r>
          </a:p>
        </p:txBody>
      </p:sp>
      <p:sp>
        <p:nvSpPr>
          <p:cNvPr id="5" name="SHARON H.">
            <a:extLst>
              <a:ext uri="{FF2B5EF4-FFF2-40B4-BE49-F238E27FC236}">
                <a16:creationId xmlns:a16="http://schemas.microsoft.com/office/drawing/2014/main" id="{399973D7-8526-FEF7-DD30-A0659A14048B}"/>
              </a:ext>
            </a:extLst>
          </p:cNvPr>
          <p:cNvSpPr/>
          <p:nvPr/>
        </p:nvSpPr>
        <p:spPr>
          <a:xfrm>
            <a:off x="8896053" y="10441301"/>
            <a:ext cx="2540001" cy="1153255"/>
          </a:xfrm>
          <a:prstGeom prst="roundRect">
            <a:avLst>
              <a:gd name="adj" fmla="val 32938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2200" i="1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rPr lang="it-IT" dirty="0"/>
              <a:t>SARA</a:t>
            </a:r>
            <a:endParaRPr dirty="0"/>
          </a:p>
        </p:txBody>
      </p:sp>
      <p:sp>
        <p:nvSpPr>
          <p:cNvPr id="6" name="+23,3% Vs Target">
            <a:extLst>
              <a:ext uri="{FF2B5EF4-FFF2-40B4-BE49-F238E27FC236}">
                <a16:creationId xmlns:a16="http://schemas.microsoft.com/office/drawing/2014/main" id="{51889E8C-DB34-1354-20DE-19283F9DF439}"/>
              </a:ext>
            </a:extLst>
          </p:cNvPr>
          <p:cNvSpPr/>
          <p:nvPr/>
        </p:nvSpPr>
        <p:spPr>
          <a:xfrm>
            <a:off x="8909565" y="11203233"/>
            <a:ext cx="2540001" cy="1397001"/>
          </a:xfrm>
          <a:prstGeom prst="roundRect">
            <a:avLst>
              <a:gd name="adj" fmla="val 27191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solidFill>
                  <a:srgbClr val="00422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+2</a:t>
            </a:r>
            <a:r>
              <a:rPr lang="it-IT" dirty="0"/>
              <a:t>5</a:t>
            </a:r>
            <a:r>
              <a:rPr dirty="0"/>
              <a:t>,3% Vs Target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3718436-8087-7DA2-F48E-20A6AE0F7BD9}"/>
              </a:ext>
            </a:extLst>
          </p:cNvPr>
          <p:cNvGrpSpPr/>
          <p:nvPr/>
        </p:nvGrpSpPr>
        <p:grpSpPr>
          <a:xfrm>
            <a:off x="16386240" y="4626567"/>
            <a:ext cx="5342982" cy="1905000"/>
            <a:chOff x="7874000" y="4445000"/>
            <a:chExt cx="5342982" cy="1905000"/>
          </a:xfrm>
        </p:grpSpPr>
        <p:sp>
          <p:nvSpPr>
            <p:cNvPr id="8" name="Rettangolo arrotondato">
              <a:extLst>
                <a:ext uri="{FF2B5EF4-FFF2-40B4-BE49-F238E27FC236}">
                  <a16:creationId xmlns:a16="http://schemas.microsoft.com/office/drawing/2014/main" id="{56D85066-1B80-A4BE-7C0D-A57500125749}"/>
                </a:ext>
              </a:extLst>
            </p:cNvPr>
            <p:cNvSpPr/>
            <p:nvPr/>
          </p:nvSpPr>
          <p:spPr>
            <a:xfrm>
              <a:off x="7874000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0F7F2"/>
            </a:solidFill>
            <a:ln w="25400" cap="flat">
              <a:solidFill>
                <a:srgbClr val="D4E7D9"/>
              </a:solidFill>
              <a:prstDash val="solid"/>
              <a:miter lim="8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9" name="TOP PERFORMER…">
              <a:extLst>
                <a:ext uri="{FF2B5EF4-FFF2-40B4-BE49-F238E27FC236}">
                  <a16:creationId xmlns:a16="http://schemas.microsoft.com/office/drawing/2014/main" id="{663EB593-A5F4-DC34-BCBD-50BC352AB6D7}"/>
                </a:ext>
              </a:extLst>
            </p:cNvPr>
            <p:cNvSpPr txBox="1"/>
            <p:nvPr/>
          </p:nvSpPr>
          <p:spPr>
            <a:xfrm>
              <a:off x="8119019" y="4570730"/>
              <a:ext cx="5097963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2B6B38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TOP PERFORMER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SARA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€13.641,73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 </a:t>
              </a:r>
              <a:r>
                <a:rPr dirty="0">
                  <a:solidFill>
                    <a:srgbClr val="2B6B38"/>
                  </a:solidFill>
                </a:rPr>
                <a:t>+25,3%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2B6B38"/>
                  </a:solidFill>
                </a:rPr>
                <a:t>+€3.448</a:t>
              </a:r>
              <a:r>
                <a:rPr lang="it-IT" dirty="0">
                  <a:solidFill>
                    <a:srgbClr val="2B6B38"/>
                  </a:solidFill>
                </a:rPr>
                <a:t>,</a:t>
              </a:r>
              <a:r>
                <a:rPr dirty="0">
                  <a:solidFill>
                    <a:srgbClr val="2B6B38"/>
                  </a:solidFill>
                </a:rPr>
                <a:t>38</a:t>
              </a:r>
              <a:r>
                <a:rPr dirty="0"/>
                <a:t>)</a:t>
              </a:r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61C2FA0-AEC4-22A9-5403-E43328D59968}"/>
              </a:ext>
            </a:extLst>
          </p:cNvPr>
          <p:cNvGrpSpPr/>
          <p:nvPr/>
        </p:nvGrpSpPr>
        <p:grpSpPr>
          <a:xfrm>
            <a:off x="12449239" y="4626567"/>
            <a:ext cx="5315616" cy="1905000"/>
            <a:chOff x="3936999" y="4445000"/>
            <a:chExt cx="5315616" cy="1905000"/>
          </a:xfrm>
        </p:grpSpPr>
        <p:sp>
          <p:nvSpPr>
            <p:cNvPr id="11" name="Rettangolo arrotondato">
              <a:extLst>
                <a:ext uri="{FF2B5EF4-FFF2-40B4-BE49-F238E27FC236}">
                  <a16:creationId xmlns:a16="http://schemas.microsoft.com/office/drawing/2014/main" id="{8ACEFEC8-BEFF-940A-ED08-4F77E9EBBCAD}"/>
                </a:ext>
              </a:extLst>
            </p:cNvPr>
            <p:cNvSpPr/>
            <p:nvPr/>
          </p:nvSpPr>
          <p:spPr>
            <a:xfrm>
              <a:off x="3936999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AF0F2"/>
            </a:solidFill>
            <a:ln w="25400" cap="flat">
              <a:solidFill>
                <a:srgbClr val="F3D6DC"/>
              </a:solidFill>
              <a:prstDash val="solid"/>
              <a:miter lim="800000"/>
            </a:ln>
            <a:effectLst>
              <a:outerShdw blurRad="254000" dist="248923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12" name="CRITICITÀ…">
              <a:extLst>
                <a:ext uri="{FF2B5EF4-FFF2-40B4-BE49-F238E27FC236}">
                  <a16:creationId xmlns:a16="http://schemas.microsoft.com/office/drawing/2014/main" id="{CCA00F08-BE6B-6876-01E6-08A3C806DEF9}"/>
                </a:ext>
              </a:extLst>
            </p:cNvPr>
            <p:cNvSpPr txBox="1"/>
            <p:nvPr/>
          </p:nvSpPr>
          <p:spPr>
            <a:xfrm>
              <a:off x="4209385" y="4570730"/>
              <a:ext cx="5043230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B83232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CRITICITÀ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MARCO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€10.840,4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</a:t>
              </a:r>
              <a:r>
                <a:rPr dirty="0">
                  <a:solidFill>
                    <a:srgbClr val="B83232"/>
                  </a:solidFill>
                </a:rPr>
                <a:t> -57,7%</a:t>
              </a:r>
              <a:r>
                <a:rPr dirty="0"/>
                <a:t> 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B83232"/>
                  </a:solidFill>
                </a:rPr>
                <a:t>-6.258,12€</a:t>
              </a:r>
              <a:r>
                <a:rPr dirty="0"/>
                <a:t>)</a:t>
              </a:r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4343E9F-F8DE-451D-03DF-AE4DB5A82C07}"/>
              </a:ext>
            </a:extLst>
          </p:cNvPr>
          <p:cNvSpPr txBox="1"/>
          <p:nvPr/>
        </p:nvSpPr>
        <p:spPr>
          <a:xfrm>
            <a:off x="10185991" y="9994605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4" name="Rettangolo arrotondato">
            <a:extLst>
              <a:ext uri="{FF2B5EF4-FFF2-40B4-BE49-F238E27FC236}">
                <a16:creationId xmlns:a16="http://schemas.microsoft.com/office/drawing/2014/main" id="{16A25128-6FB2-7429-BF70-B56082D12973}"/>
              </a:ext>
            </a:extLst>
          </p:cNvPr>
          <p:cNvSpPr/>
          <p:nvPr/>
        </p:nvSpPr>
        <p:spPr>
          <a:xfrm>
            <a:off x="4864678" y="9557633"/>
            <a:ext cx="2540000" cy="3175001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14" name="WEEKLY TREND">
            <a:extLst>
              <a:ext uri="{FF2B5EF4-FFF2-40B4-BE49-F238E27FC236}">
                <a16:creationId xmlns:a16="http://schemas.microsoft.com/office/drawing/2014/main" id="{B2510122-35E3-FD0D-F48D-2D69E109228E}"/>
              </a:ext>
            </a:extLst>
          </p:cNvPr>
          <p:cNvSpPr/>
          <p:nvPr/>
        </p:nvSpPr>
        <p:spPr>
          <a:xfrm>
            <a:off x="4864678" y="9548108"/>
            <a:ext cx="2540000" cy="3175001"/>
          </a:xfrm>
          <a:prstGeom prst="roundRect">
            <a:avLst>
              <a:gd name="adj" fmla="val 14955"/>
            </a:avLst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0" tIns="254000" rIns="254000" bIns="254000"/>
          <a:lstStyle>
            <a:lvl1pPr algn="ctr"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WEEKLY</a:t>
            </a:r>
            <a:endParaRPr lang="it-IT" dirty="0"/>
          </a:p>
          <a:p>
            <a:r>
              <a:rPr dirty="0"/>
              <a:t>TREND</a:t>
            </a:r>
          </a:p>
        </p:txBody>
      </p:sp>
      <p:graphicFrame>
        <p:nvGraphicFramePr>
          <p:cNvPr id="15" name="Grafico a linee 2D">
            <a:extLst>
              <a:ext uri="{FF2B5EF4-FFF2-40B4-BE49-F238E27FC236}">
                <a16:creationId xmlns:a16="http://schemas.microsoft.com/office/drawing/2014/main" id="{908BE6C2-F133-27D5-EAA5-3E62CE741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6163337"/>
              </p:ext>
            </p:extLst>
          </p:nvPr>
        </p:nvGraphicFramePr>
        <p:xfrm>
          <a:off x="4952625" y="10622549"/>
          <a:ext cx="2261084" cy="1671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F4660508-C758-EC43-4523-B08468769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380148"/>
              </p:ext>
            </p:extLst>
          </p:nvPr>
        </p:nvGraphicFramePr>
        <p:xfrm>
          <a:off x="12934520" y="793456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tangolo arrotondato"/>
          <p:cNvSpPr/>
          <p:nvPr/>
        </p:nvSpPr>
        <p:spPr>
          <a:xfrm>
            <a:off x="3940239" y="381000"/>
            <a:ext cx="7450562" cy="3810000"/>
          </a:xfrm>
          <a:prstGeom prst="roundRect">
            <a:avLst>
              <a:gd name="adj" fmla="val 997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1A3D6DE9-CB2B-C65A-E5BF-16D5A74233F0}"/>
              </a:ext>
            </a:extLst>
          </p:cNvPr>
          <p:cNvGrpSpPr/>
          <p:nvPr/>
        </p:nvGrpSpPr>
        <p:grpSpPr>
          <a:xfrm>
            <a:off x="7874000" y="4445000"/>
            <a:ext cx="5342982" cy="1905000"/>
            <a:chOff x="7874000" y="4445000"/>
            <a:chExt cx="5342982" cy="1905000"/>
          </a:xfrm>
        </p:grpSpPr>
        <p:sp>
          <p:nvSpPr>
            <p:cNvPr id="251" name="Rettangolo arrotondato"/>
            <p:cNvSpPr/>
            <p:nvPr/>
          </p:nvSpPr>
          <p:spPr>
            <a:xfrm>
              <a:off x="7874000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0F7F2"/>
            </a:solidFill>
            <a:ln w="25400" cap="flat">
              <a:solidFill>
                <a:srgbClr val="D4E7D9"/>
              </a:solidFill>
              <a:prstDash val="solid"/>
              <a:miter lim="8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252" name="TOP PERFORMER…"/>
            <p:cNvSpPr txBox="1"/>
            <p:nvPr/>
          </p:nvSpPr>
          <p:spPr>
            <a:xfrm>
              <a:off x="8119019" y="4570730"/>
              <a:ext cx="5097963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2B6B38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TOP PERFORMER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SARA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€13.641,73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 </a:t>
              </a:r>
              <a:r>
                <a:rPr dirty="0">
                  <a:solidFill>
                    <a:srgbClr val="2B6B38"/>
                  </a:solidFill>
                </a:rPr>
                <a:t>+25,3%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2B6B38"/>
                  </a:solidFill>
                </a:rPr>
                <a:t>+€3.448</a:t>
              </a:r>
              <a:r>
                <a:rPr lang="it-IT" dirty="0">
                  <a:solidFill>
                    <a:srgbClr val="2B6B38"/>
                  </a:solidFill>
                </a:rPr>
                <a:t>,</a:t>
              </a:r>
              <a:r>
                <a:rPr dirty="0">
                  <a:solidFill>
                    <a:srgbClr val="2B6B38"/>
                  </a:solidFill>
                </a:rPr>
                <a:t>38</a:t>
              </a:r>
              <a:r>
                <a:rPr dirty="0"/>
                <a:t>)</a:t>
              </a:r>
            </a:p>
          </p:txBody>
        </p: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96800495-8D70-20EE-25F7-E53DFF83B9AB}"/>
              </a:ext>
            </a:extLst>
          </p:cNvPr>
          <p:cNvGrpSpPr/>
          <p:nvPr/>
        </p:nvGrpSpPr>
        <p:grpSpPr>
          <a:xfrm>
            <a:off x="3936999" y="4445000"/>
            <a:ext cx="5315616" cy="1905000"/>
            <a:chOff x="3936999" y="4445000"/>
            <a:chExt cx="5315616" cy="1905000"/>
          </a:xfrm>
        </p:grpSpPr>
        <p:sp>
          <p:nvSpPr>
            <p:cNvPr id="254" name="Rettangolo arrotondato"/>
            <p:cNvSpPr/>
            <p:nvPr/>
          </p:nvSpPr>
          <p:spPr>
            <a:xfrm>
              <a:off x="3936999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AF0F2"/>
            </a:solidFill>
            <a:ln w="25400" cap="flat">
              <a:solidFill>
                <a:srgbClr val="F3D6DC"/>
              </a:solidFill>
              <a:prstDash val="solid"/>
              <a:miter lim="800000"/>
            </a:ln>
            <a:effectLst>
              <a:outerShdw blurRad="254000" dist="248923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255" name="CRITICITÀ…"/>
            <p:cNvSpPr txBox="1"/>
            <p:nvPr/>
          </p:nvSpPr>
          <p:spPr>
            <a:xfrm>
              <a:off x="4209385" y="4570730"/>
              <a:ext cx="5043230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B83232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CRITICITÀ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MARCO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€10.840,4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</a:t>
              </a:r>
              <a:r>
                <a:rPr dirty="0">
                  <a:solidFill>
                    <a:srgbClr val="B83232"/>
                  </a:solidFill>
                </a:rPr>
                <a:t> -57,7%</a:t>
              </a:r>
              <a:r>
                <a:rPr dirty="0"/>
                <a:t> 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B83232"/>
                  </a:solidFill>
                </a:rPr>
                <a:t>-6.258,12€</a:t>
              </a:r>
              <a:r>
                <a:rPr dirty="0"/>
                <a:t>)</a:t>
              </a:r>
            </a:p>
          </p:txBody>
        </p:sp>
      </p:grpSp>
      <p:sp>
        <p:nvSpPr>
          <p:cNvPr id="257" name="Rettangolo arrotondato"/>
          <p:cNvSpPr/>
          <p:nvPr/>
        </p:nvSpPr>
        <p:spPr>
          <a:xfrm>
            <a:off x="762000" y="378905"/>
            <a:ext cx="2617356" cy="5983324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Avenir Book"/>
            </a:endParaRPr>
          </a:p>
        </p:txBody>
      </p:sp>
      <p:sp>
        <p:nvSpPr>
          <p:cNvPr id="258" name="CATEGORIE"/>
          <p:cNvSpPr txBox="1"/>
          <p:nvPr/>
        </p:nvSpPr>
        <p:spPr>
          <a:xfrm>
            <a:off x="762000" y="959365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CATEGORIE</a:t>
            </a:r>
          </a:p>
        </p:txBody>
      </p:sp>
      <p:sp>
        <p:nvSpPr>
          <p:cNvPr id="259" name="Vendite (€)">
            <a:hlinkClick r:id="rId3" action="ppaction://hlinksldjump"/>
          </p:cNvPr>
          <p:cNvSpPr/>
          <p:nvPr/>
        </p:nvSpPr>
        <p:spPr>
          <a:xfrm>
            <a:off x="1433584" y="1720015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Vendite (€)</a:t>
            </a:r>
          </a:p>
        </p:txBody>
      </p:sp>
      <p:sp>
        <p:nvSpPr>
          <p:cNvPr id="260" name="Scostamento Vs Target (%)">
            <a:hlinkClick r:id="rId3" action="ppaction://hlinksldjump"/>
          </p:cNvPr>
          <p:cNvSpPr/>
          <p:nvPr/>
        </p:nvSpPr>
        <p:spPr>
          <a:xfrm>
            <a:off x="925584" y="2855820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Scostamento</a:t>
            </a:r>
            <a:r>
              <a:rPr dirty="0"/>
              <a:t> Vs Target (%)</a:t>
            </a:r>
          </a:p>
        </p:txBody>
      </p:sp>
      <p:sp>
        <p:nvSpPr>
          <p:cNvPr id="261" name="Scontrino Medio (€)">
            <a:hlinkClick r:id="rId4" action="ppaction://hlinksldjump"/>
          </p:cNvPr>
          <p:cNvSpPr/>
          <p:nvPr/>
        </p:nvSpPr>
        <p:spPr>
          <a:xfrm>
            <a:off x="925584" y="3991624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Scontrino</a:t>
            </a:r>
            <a:r>
              <a:rPr dirty="0"/>
              <a:t> Medio (€)</a:t>
            </a:r>
          </a:p>
        </p:txBody>
      </p:sp>
      <p:sp>
        <p:nvSpPr>
          <p:cNvPr id="262" name="UPT">
            <a:hlinkClick r:id="rId5" action="ppaction://hlinksldjump"/>
          </p:cNvPr>
          <p:cNvSpPr/>
          <p:nvPr/>
        </p:nvSpPr>
        <p:spPr>
          <a:xfrm>
            <a:off x="925584" y="512742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B0FEEF71-AE9D-FE4F-B509-D8D64FB517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92507"/>
              </p:ext>
            </p:extLst>
          </p:nvPr>
        </p:nvGraphicFramePr>
        <p:xfrm>
          <a:off x="4425520" y="846000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E9BDF3EC-9413-4547-8A26-B137E6A85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434626"/>
              </p:ext>
            </p:extLst>
          </p:nvPr>
        </p:nvGraphicFramePr>
        <p:xfrm>
          <a:off x="4209385" y="7660553"/>
          <a:ext cx="6480000" cy="2212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06556-0240-7E15-1886-73F1B4A5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tangolo arrotondato">
            <a:extLst>
              <a:ext uri="{FF2B5EF4-FFF2-40B4-BE49-F238E27FC236}">
                <a16:creationId xmlns:a16="http://schemas.microsoft.com/office/drawing/2014/main" id="{1604AA3D-3FCA-0813-DC6C-1EC8318BED2C}"/>
              </a:ext>
            </a:extLst>
          </p:cNvPr>
          <p:cNvSpPr/>
          <p:nvPr/>
        </p:nvSpPr>
        <p:spPr>
          <a:xfrm>
            <a:off x="3930563" y="1570567"/>
            <a:ext cx="7450562" cy="3600000"/>
          </a:xfrm>
          <a:prstGeom prst="roundRect">
            <a:avLst>
              <a:gd name="adj" fmla="val 997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257" name="Rettangolo arrotondato">
            <a:extLst>
              <a:ext uri="{FF2B5EF4-FFF2-40B4-BE49-F238E27FC236}">
                <a16:creationId xmlns:a16="http://schemas.microsoft.com/office/drawing/2014/main" id="{24FFD670-2825-7F61-6AAA-A0914380F4F0}"/>
              </a:ext>
            </a:extLst>
          </p:cNvPr>
          <p:cNvSpPr/>
          <p:nvPr/>
        </p:nvSpPr>
        <p:spPr>
          <a:xfrm>
            <a:off x="762000" y="378905"/>
            <a:ext cx="2617356" cy="5983324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Avenir Book"/>
            </a:endParaRPr>
          </a:p>
        </p:txBody>
      </p:sp>
      <p:sp>
        <p:nvSpPr>
          <p:cNvPr id="258" name="CATEGORIE">
            <a:extLst>
              <a:ext uri="{FF2B5EF4-FFF2-40B4-BE49-F238E27FC236}">
                <a16:creationId xmlns:a16="http://schemas.microsoft.com/office/drawing/2014/main" id="{46ACD77E-6185-67ED-4AC0-5E7007824F90}"/>
              </a:ext>
            </a:extLst>
          </p:cNvPr>
          <p:cNvSpPr txBox="1"/>
          <p:nvPr/>
        </p:nvSpPr>
        <p:spPr>
          <a:xfrm>
            <a:off x="762000" y="959365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CATEGORIE</a:t>
            </a:r>
          </a:p>
        </p:txBody>
      </p:sp>
      <p:sp>
        <p:nvSpPr>
          <p:cNvPr id="259" name="Vendite (€)">
            <a:hlinkClick r:id="rId2" action="ppaction://hlinksldjump"/>
            <a:extLst>
              <a:ext uri="{FF2B5EF4-FFF2-40B4-BE49-F238E27FC236}">
                <a16:creationId xmlns:a16="http://schemas.microsoft.com/office/drawing/2014/main" id="{B26F1F55-8622-12F0-D6E8-B221B89F56F2}"/>
              </a:ext>
            </a:extLst>
          </p:cNvPr>
          <p:cNvSpPr/>
          <p:nvPr/>
        </p:nvSpPr>
        <p:spPr>
          <a:xfrm>
            <a:off x="925584" y="171776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Vendite</a:t>
            </a:r>
            <a:r>
              <a:rPr dirty="0"/>
              <a:t> (€)</a:t>
            </a:r>
          </a:p>
        </p:txBody>
      </p:sp>
      <p:sp>
        <p:nvSpPr>
          <p:cNvPr id="260" name="Scostamento Vs Target (%)">
            <a:hlinkClick r:id="rId3" action="ppaction://hlinksldjump"/>
            <a:extLst>
              <a:ext uri="{FF2B5EF4-FFF2-40B4-BE49-F238E27FC236}">
                <a16:creationId xmlns:a16="http://schemas.microsoft.com/office/drawing/2014/main" id="{9836F258-9D06-77E0-EFC7-76B054E6F4FA}"/>
              </a:ext>
            </a:extLst>
          </p:cNvPr>
          <p:cNvSpPr/>
          <p:nvPr/>
        </p:nvSpPr>
        <p:spPr>
          <a:xfrm>
            <a:off x="1367990" y="285581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Scostamento Vs Target (%)</a:t>
            </a:r>
          </a:p>
        </p:txBody>
      </p:sp>
      <p:sp>
        <p:nvSpPr>
          <p:cNvPr id="261" name="Scontrino Medio (€)">
            <a:hlinkClick r:id="rId4" action="ppaction://hlinksldjump"/>
            <a:extLst>
              <a:ext uri="{FF2B5EF4-FFF2-40B4-BE49-F238E27FC236}">
                <a16:creationId xmlns:a16="http://schemas.microsoft.com/office/drawing/2014/main" id="{A4AE59B3-99FB-7027-FC0F-491C1B594DA4}"/>
              </a:ext>
            </a:extLst>
          </p:cNvPr>
          <p:cNvSpPr/>
          <p:nvPr/>
        </p:nvSpPr>
        <p:spPr>
          <a:xfrm>
            <a:off x="925584" y="3991624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Scontrino Medio (€)</a:t>
            </a:r>
          </a:p>
        </p:txBody>
      </p:sp>
      <p:sp>
        <p:nvSpPr>
          <p:cNvPr id="262" name="UPT">
            <a:hlinkClick r:id="rId5" action="ppaction://hlinksldjump"/>
            <a:extLst>
              <a:ext uri="{FF2B5EF4-FFF2-40B4-BE49-F238E27FC236}">
                <a16:creationId xmlns:a16="http://schemas.microsoft.com/office/drawing/2014/main" id="{3D2731DC-AA15-3A66-0B64-0F5D5B832018}"/>
              </a:ext>
            </a:extLst>
          </p:cNvPr>
          <p:cNvSpPr/>
          <p:nvPr/>
        </p:nvSpPr>
        <p:spPr>
          <a:xfrm>
            <a:off x="925584" y="512742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9E238502-43A3-19AA-A2CC-AA5AFAA48718}"/>
              </a:ext>
            </a:extLst>
          </p:cNvPr>
          <p:cNvGrpSpPr/>
          <p:nvPr/>
        </p:nvGrpSpPr>
        <p:grpSpPr>
          <a:xfrm>
            <a:off x="7967197" y="-2237363"/>
            <a:ext cx="5342982" cy="1905000"/>
            <a:chOff x="7874000" y="4445000"/>
            <a:chExt cx="5342982" cy="1905000"/>
          </a:xfrm>
        </p:grpSpPr>
        <p:sp>
          <p:nvSpPr>
            <p:cNvPr id="8" name="Rettangolo arrotondato">
              <a:extLst>
                <a:ext uri="{FF2B5EF4-FFF2-40B4-BE49-F238E27FC236}">
                  <a16:creationId xmlns:a16="http://schemas.microsoft.com/office/drawing/2014/main" id="{2AC03EA7-A331-9095-9E13-EA5C03275AB2}"/>
                </a:ext>
              </a:extLst>
            </p:cNvPr>
            <p:cNvSpPr/>
            <p:nvPr/>
          </p:nvSpPr>
          <p:spPr>
            <a:xfrm>
              <a:off x="7874000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0F7F2"/>
            </a:solidFill>
            <a:ln w="25400" cap="flat">
              <a:solidFill>
                <a:srgbClr val="D4E7D9"/>
              </a:solidFill>
              <a:prstDash val="solid"/>
              <a:miter lim="800000"/>
            </a:ln>
            <a:effectLst>
              <a:outerShdw blurRad="254000" dist="248923" dir="2700000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9" name="TOP PERFORMER…">
              <a:extLst>
                <a:ext uri="{FF2B5EF4-FFF2-40B4-BE49-F238E27FC236}">
                  <a16:creationId xmlns:a16="http://schemas.microsoft.com/office/drawing/2014/main" id="{D834CEFB-4234-4480-17B8-2C78D7D389E2}"/>
                </a:ext>
              </a:extLst>
            </p:cNvPr>
            <p:cNvSpPr txBox="1"/>
            <p:nvPr/>
          </p:nvSpPr>
          <p:spPr>
            <a:xfrm>
              <a:off x="8119019" y="4570730"/>
              <a:ext cx="5097963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2B6B38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TOP PERFORMER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SARA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€13.641,73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 </a:t>
              </a:r>
              <a:r>
                <a:rPr dirty="0">
                  <a:solidFill>
                    <a:srgbClr val="2B6B38"/>
                  </a:solidFill>
                </a:rPr>
                <a:t>+25,3%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2B6B38"/>
                  </a:solidFill>
                </a:rPr>
                <a:t>+€3.448</a:t>
              </a:r>
              <a:r>
                <a:rPr lang="it-IT" dirty="0">
                  <a:solidFill>
                    <a:srgbClr val="2B6B38"/>
                  </a:solidFill>
                </a:rPr>
                <a:t>,</a:t>
              </a:r>
              <a:r>
                <a:rPr dirty="0">
                  <a:solidFill>
                    <a:srgbClr val="2B6B38"/>
                  </a:solidFill>
                </a:rPr>
                <a:t>38</a:t>
              </a:r>
              <a:r>
                <a:rPr dirty="0"/>
                <a:t>)</a:t>
              </a:r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03950BFB-F211-70B5-4DC4-6D0E7E688246}"/>
              </a:ext>
            </a:extLst>
          </p:cNvPr>
          <p:cNvGrpSpPr/>
          <p:nvPr/>
        </p:nvGrpSpPr>
        <p:grpSpPr>
          <a:xfrm>
            <a:off x="4030196" y="-2237363"/>
            <a:ext cx="5315616" cy="1905000"/>
            <a:chOff x="3936999" y="4445000"/>
            <a:chExt cx="5315616" cy="1905000"/>
          </a:xfrm>
        </p:grpSpPr>
        <p:sp>
          <p:nvSpPr>
            <p:cNvPr id="11" name="Rettangolo arrotondato">
              <a:extLst>
                <a:ext uri="{FF2B5EF4-FFF2-40B4-BE49-F238E27FC236}">
                  <a16:creationId xmlns:a16="http://schemas.microsoft.com/office/drawing/2014/main" id="{F46395BF-ED9C-3A05-7669-F68DE7EFF242}"/>
                </a:ext>
              </a:extLst>
            </p:cNvPr>
            <p:cNvSpPr/>
            <p:nvPr/>
          </p:nvSpPr>
          <p:spPr>
            <a:xfrm>
              <a:off x="3936999" y="4445000"/>
              <a:ext cx="3492501" cy="1905000"/>
            </a:xfrm>
            <a:prstGeom prst="roundRect">
              <a:avLst>
                <a:gd name="adj" fmla="val 19940"/>
              </a:avLst>
            </a:prstGeom>
            <a:solidFill>
              <a:srgbClr val="FAF0F2"/>
            </a:solidFill>
            <a:ln w="25400" cap="flat">
              <a:solidFill>
                <a:srgbClr val="F3D6DC"/>
              </a:solidFill>
              <a:prstDash val="solid"/>
              <a:miter lim="800000"/>
            </a:ln>
            <a:effectLst>
              <a:outerShdw blurRad="254000" dist="248923" rotWithShape="0">
                <a:srgbClr val="000000">
                  <a:alpha val="25038"/>
                </a:srgbClr>
              </a:outerShdw>
            </a:effectLst>
          </p:spPr>
          <p:txBody>
            <a:bodyPr wrap="square" lIns="317500" tIns="317500" rIns="317500" bIns="317500" numCol="1" anchor="t">
              <a:noAutofit/>
            </a:bodyPr>
            <a:lstStyle/>
            <a:p>
              <a:pPr>
                <a:defRPr>
                  <a:latin typeface="Futura Book BT"/>
                  <a:ea typeface="Futura Book BT"/>
                  <a:cs typeface="Futura Book BT"/>
                  <a:sym typeface="Futura Book BT"/>
                </a:defRPr>
              </a:pPr>
              <a:endParaRPr/>
            </a:p>
          </p:txBody>
        </p:sp>
        <p:sp>
          <p:nvSpPr>
            <p:cNvPr id="12" name="CRITICITÀ…">
              <a:extLst>
                <a:ext uri="{FF2B5EF4-FFF2-40B4-BE49-F238E27FC236}">
                  <a16:creationId xmlns:a16="http://schemas.microsoft.com/office/drawing/2014/main" id="{1A68EB86-4B4E-B9A4-9B06-4A69CE4BC821}"/>
                </a:ext>
              </a:extLst>
            </p:cNvPr>
            <p:cNvSpPr txBox="1"/>
            <p:nvPr/>
          </p:nvSpPr>
          <p:spPr>
            <a:xfrm>
              <a:off x="4209385" y="4570730"/>
              <a:ext cx="5043230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600">
                  <a:solidFill>
                    <a:srgbClr val="B83232"/>
                  </a:solidFill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dirty="0"/>
                <a:t>CRITICITÀ</a:t>
              </a:r>
            </a:p>
            <a:p>
              <a:pPr>
                <a:defRPr sz="2000">
                  <a:latin typeface="Avenir Next Medium"/>
                  <a:ea typeface="Avenir Next Medium"/>
                  <a:cs typeface="Avenir Next Medium"/>
                  <a:sym typeface="Avenir Next Medium"/>
                </a:defRPr>
              </a:pPr>
              <a:r>
                <a:rPr lang="it-IT" dirty="0"/>
                <a:t>MARCO</a:t>
              </a:r>
              <a:endParaRPr dirty="0"/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Fatturato</a:t>
              </a:r>
              <a:r>
                <a:rPr dirty="0"/>
                <a:t>: €10.840,4</a:t>
              </a:r>
            </a:p>
            <a:p>
              <a:pPr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Vs Target:</a:t>
              </a:r>
              <a:r>
                <a:rPr dirty="0">
                  <a:solidFill>
                    <a:srgbClr val="B83232"/>
                  </a:solidFill>
                </a:rPr>
                <a:t> -57,7%</a:t>
              </a:r>
              <a:r>
                <a:rPr dirty="0"/>
                <a:t> </a:t>
              </a:r>
            </a:p>
            <a:p>
              <a:pPr lvl="1">
                <a:defRPr sz="1600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(</a:t>
              </a:r>
              <a:r>
                <a:rPr dirty="0">
                  <a:solidFill>
                    <a:srgbClr val="B83232"/>
                  </a:solidFill>
                </a:rPr>
                <a:t>-6.258,12€</a:t>
              </a:r>
              <a:r>
                <a:rPr dirty="0"/>
                <a:t>)</a:t>
              </a:r>
            </a:p>
          </p:txBody>
        </p:sp>
      </p:grpSp>
      <p:sp>
        <p:nvSpPr>
          <p:cNvPr id="13" name="!!Rettangolo arrotondato.10">
            <a:extLst>
              <a:ext uri="{FF2B5EF4-FFF2-40B4-BE49-F238E27FC236}">
                <a16:creationId xmlns:a16="http://schemas.microsoft.com/office/drawing/2014/main" id="{39FED77D-BB2D-33D0-B8ED-0AAC5617BE4D}"/>
              </a:ext>
            </a:extLst>
          </p:cNvPr>
          <p:cNvSpPr/>
          <p:nvPr/>
        </p:nvSpPr>
        <p:spPr>
          <a:xfrm>
            <a:off x="3866504" y="10868688"/>
            <a:ext cx="7620000" cy="1587500"/>
          </a:xfrm>
          <a:prstGeom prst="roundRect">
            <a:avLst>
              <a:gd name="adj" fmla="val 23928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14" name="Nicole (+17,00%) e Sharon (+5,92%) registrano gli scontrini medi più alti, superando la media dello Store.…">
            <a:extLst>
              <a:ext uri="{FF2B5EF4-FFF2-40B4-BE49-F238E27FC236}">
                <a16:creationId xmlns:a16="http://schemas.microsoft.com/office/drawing/2014/main" id="{08CEC8BF-5C4F-3C52-A086-AAEDB508589F}"/>
              </a:ext>
            </a:extLst>
          </p:cNvPr>
          <p:cNvSpPr txBox="1"/>
          <p:nvPr/>
        </p:nvSpPr>
        <p:spPr>
          <a:xfrm>
            <a:off x="3930563" y="10868688"/>
            <a:ext cx="7620001" cy="158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Giulia</a:t>
            </a:r>
            <a:r>
              <a:rPr dirty="0"/>
              <a:t> (+17,00%) e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Sara</a:t>
            </a:r>
            <a:r>
              <a:rPr dirty="0"/>
              <a:t> (+5,92%) </a:t>
            </a:r>
            <a:r>
              <a:rPr dirty="0" err="1"/>
              <a:t>registrano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scontrini</a:t>
            </a:r>
            <a:r>
              <a:rPr dirty="0"/>
              <a:t> </a:t>
            </a:r>
            <a:r>
              <a:rPr dirty="0" err="1"/>
              <a:t>medi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alti, </a:t>
            </a:r>
            <a:r>
              <a:rPr dirty="0" err="1"/>
              <a:t>superando</a:t>
            </a:r>
            <a:r>
              <a:rPr dirty="0"/>
              <a:t> la media </a:t>
            </a:r>
            <a:r>
              <a:rPr dirty="0" err="1"/>
              <a:t>dello</a:t>
            </a:r>
            <a:r>
              <a:rPr dirty="0"/>
              <a:t> Store.</a:t>
            </a:r>
          </a:p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Marco</a:t>
            </a:r>
            <a:r>
              <a:rPr dirty="0"/>
              <a:t> (-12,09%)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la </a:t>
            </a:r>
            <a:r>
              <a:rPr dirty="0" err="1"/>
              <a:t>battuta</a:t>
            </a:r>
            <a:r>
              <a:rPr dirty="0"/>
              <a:t> media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contenuta</a:t>
            </a:r>
            <a:r>
              <a:rPr dirty="0"/>
              <a:t>.</a:t>
            </a:r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B725D0B3-B1DF-4219-0544-5B977A9AB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583182"/>
              </p:ext>
            </p:extLst>
          </p:nvPr>
        </p:nvGraphicFramePr>
        <p:xfrm>
          <a:off x="4743995" y="-5463200"/>
          <a:ext cx="6742509" cy="2965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E90F891C-2FAD-329F-AF72-2CF1DC5B0A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561936"/>
              </p:ext>
            </p:extLst>
          </p:nvPr>
        </p:nvGraphicFramePr>
        <p:xfrm>
          <a:off x="4415844" y="1930567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!!Grafico 5">
            <a:extLst>
              <a:ext uri="{FF2B5EF4-FFF2-40B4-BE49-F238E27FC236}">
                <a16:creationId xmlns:a16="http://schemas.microsoft.com/office/drawing/2014/main" id="{C0AA3565-2A37-E64C-A3E7-74A4F40B95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77969"/>
              </p:ext>
            </p:extLst>
          </p:nvPr>
        </p:nvGraphicFramePr>
        <p:xfrm>
          <a:off x="4370005" y="7594411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685581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2AA0-1655-4684-75E9-92A40CAF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tangolo arrotondato">
            <a:extLst>
              <a:ext uri="{FF2B5EF4-FFF2-40B4-BE49-F238E27FC236}">
                <a16:creationId xmlns:a16="http://schemas.microsoft.com/office/drawing/2014/main" id="{A351EE1E-1430-64B7-389B-41A1A8132062}"/>
              </a:ext>
            </a:extLst>
          </p:cNvPr>
          <p:cNvSpPr/>
          <p:nvPr/>
        </p:nvSpPr>
        <p:spPr>
          <a:xfrm>
            <a:off x="4028537" y="995141"/>
            <a:ext cx="7450562" cy="3600000"/>
          </a:xfrm>
          <a:prstGeom prst="roundRect">
            <a:avLst>
              <a:gd name="adj" fmla="val 997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257" name="Rettangolo arrotondato">
            <a:extLst>
              <a:ext uri="{FF2B5EF4-FFF2-40B4-BE49-F238E27FC236}">
                <a16:creationId xmlns:a16="http://schemas.microsoft.com/office/drawing/2014/main" id="{FAE63C33-07FD-CC0A-F3D5-CCC9E044EBF0}"/>
              </a:ext>
            </a:extLst>
          </p:cNvPr>
          <p:cNvSpPr/>
          <p:nvPr/>
        </p:nvSpPr>
        <p:spPr>
          <a:xfrm>
            <a:off x="762000" y="378905"/>
            <a:ext cx="2617356" cy="5983324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Avenir Book"/>
            </a:endParaRPr>
          </a:p>
        </p:txBody>
      </p:sp>
      <p:sp>
        <p:nvSpPr>
          <p:cNvPr id="258" name="CATEGORIE">
            <a:extLst>
              <a:ext uri="{FF2B5EF4-FFF2-40B4-BE49-F238E27FC236}">
                <a16:creationId xmlns:a16="http://schemas.microsoft.com/office/drawing/2014/main" id="{C41CEA3A-DF50-FF9C-143B-5EF373090A1E}"/>
              </a:ext>
            </a:extLst>
          </p:cNvPr>
          <p:cNvSpPr txBox="1"/>
          <p:nvPr/>
        </p:nvSpPr>
        <p:spPr>
          <a:xfrm>
            <a:off x="762000" y="959365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CATEGORIE</a:t>
            </a:r>
          </a:p>
        </p:txBody>
      </p:sp>
      <p:sp>
        <p:nvSpPr>
          <p:cNvPr id="259" name="Vendite (€)">
            <a:hlinkClick r:id="rId2" action="ppaction://hlinksldjump"/>
            <a:extLst>
              <a:ext uri="{FF2B5EF4-FFF2-40B4-BE49-F238E27FC236}">
                <a16:creationId xmlns:a16="http://schemas.microsoft.com/office/drawing/2014/main" id="{463CD6CC-40ED-22F1-9739-81FBB90F0DB2}"/>
              </a:ext>
            </a:extLst>
          </p:cNvPr>
          <p:cNvSpPr/>
          <p:nvPr/>
        </p:nvSpPr>
        <p:spPr>
          <a:xfrm>
            <a:off x="925584" y="171776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Vendite</a:t>
            </a:r>
            <a:r>
              <a:rPr dirty="0"/>
              <a:t> (€)</a:t>
            </a:r>
          </a:p>
        </p:txBody>
      </p:sp>
      <p:sp>
        <p:nvSpPr>
          <p:cNvPr id="260" name="Scostamento Vs Target (%)">
            <a:hlinkClick r:id="rId3" action="ppaction://hlinksldjump"/>
            <a:extLst>
              <a:ext uri="{FF2B5EF4-FFF2-40B4-BE49-F238E27FC236}">
                <a16:creationId xmlns:a16="http://schemas.microsoft.com/office/drawing/2014/main" id="{7BEA7C40-4308-DB7B-7AC5-6F10C760B7AB}"/>
              </a:ext>
            </a:extLst>
          </p:cNvPr>
          <p:cNvSpPr/>
          <p:nvPr/>
        </p:nvSpPr>
        <p:spPr>
          <a:xfrm>
            <a:off x="925583" y="2853574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Scostamento Vs Target (%)</a:t>
            </a:r>
          </a:p>
        </p:txBody>
      </p:sp>
      <p:sp>
        <p:nvSpPr>
          <p:cNvPr id="261" name="Scontrino Medio (€)">
            <a:hlinkClick r:id="rId4" action="ppaction://hlinksldjump"/>
            <a:extLst>
              <a:ext uri="{FF2B5EF4-FFF2-40B4-BE49-F238E27FC236}">
                <a16:creationId xmlns:a16="http://schemas.microsoft.com/office/drawing/2014/main" id="{19DC2ABB-3B8D-C1AF-7DA5-C8AFFD3AC431}"/>
              </a:ext>
            </a:extLst>
          </p:cNvPr>
          <p:cNvSpPr/>
          <p:nvPr/>
        </p:nvSpPr>
        <p:spPr>
          <a:xfrm>
            <a:off x="1364772" y="398937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Scontrino Medio (€)</a:t>
            </a:r>
          </a:p>
        </p:txBody>
      </p:sp>
      <p:sp>
        <p:nvSpPr>
          <p:cNvPr id="262" name="UPT">
            <a:hlinkClick r:id="rId5" action="ppaction://hlinksldjump"/>
            <a:extLst>
              <a:ext uri="{FF2B5EF4-FFF2-40B4-BE49-F238E27FC236}">
                <a16:creationId xmlns:a16="http://schemas.microsoft.com/office/drawing/2014/main" id="{BB30E909-7955-D833-EC71-BE148AE1791E}"/>
              </a:ext>
            </a:extLst>
          </p:cNvPr>
          <p:cNvSpPr/>
          <p:nvPr/>
        </p:nvSpPr>
        <p:spPr>
          <a:xfrm>
            <a:off x="925584" y="512742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sp>
        <p:nvSpPr>
          <p:cNvPr id="5" name="!!Rettangolo arrotondato.10">
            <a:extLst>
              <a:ext uri="{FF2B5EF4-FFF2-40B4-BE49-F238E27FC236}">
                <a16:creationId xmlns:a16="http://schemas.microsoft.com/office/drawing/2014/main" id="{318BE057-A431-3BBE-6046-5C061C41BBCE}"/>
              </a:ext>
            </a:extLst>
          </p:cNvPr>
          <p:cNvSpPr/>
          <p:nvPr/>
        </p:nvSpPr>
        <p:spPr>
          <a:xfrm>
            <a:off x="3937000" y="4762500"/>
            <a:ext cx="7620000" cy="1587500"/>
          </a:xfrm>
          <a:prstGeom prst="roundRect">
            <a:avLst>
              <a:gd name="adj" fmla="val 23928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6" name="Nicole (+17,00%) e Sharon (+5,92%) registrano gli scontrini medi più alti, superando la media dello Store.…">
            <a:extLst>
              <a:ext uri="{FF2B5EF4-FFF2-40B4-BE49-F238E27FC236}">
                <a16:creationId xmlns:a16="http://schemas.microsoft.com/office/drawing/2014/main" id="{BA739CC3-D643-C770-5FCE-512CDC264497}"/>
              </a:ext>
            </a:extLst>
          </p:cNvPr>
          <p:cNvSpPr txBox="1"/>
          <p:nvPr/>
        </p:nvSpPr>
        <p:spPr>
          <a:xfrm>
            <a:off x="4001059" y="4762500"/>
            <a:ext cx="7620001" cy="158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Giulia</a:t>
            </a:r>
            <a:r>
              <a:rPr dirty="0"/>
              <a:t> (+17,00%) e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Sara</a:t>
            </a:r>
            <a:r>
              <a:rPr dirty="0"/>
              <a:t> (+5,92%) </a:t>
            </a:r>
            <a:r>
              <a:rPr dirty="0" err="1"/>
              <a:t>registrano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scontrini</a:t>
            </a:r>
            <a:r>
              <a:rPr dirty="0"/>
              <a:t> </a:t>
            </a:r>
            <a:r>
              <a:rPr dirty="0" err="1"/>
              <a:t>medi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alti, </a:t>
            </a:r>
            <a:r>
              <a:rPr dirty="0" err="1"/>
              <a:t>superando</a:t>
            </a:r>
            <a:r>
              <a:rPr dirty="0"/>
              <a:t> la media </a:t>
            </a:r>
            <a:r>
              <a:rPr dirty="0" err="1"/>
              <a:t>dello</a:t>
            </a:r>
            <a:r>
              <a:rPr dirty="0"/>
              <a:t> Store.</a:t>
            </a:r>
          </a:p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Marco</a:t>
            </a:r>
            <a:r>
              <a:rPr dirty="0"/>
              <a:t> (-12,09%)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la </a:t>
            </a:r>
            <a:r>
              <a:rPr dirty="0" err="1"/>
              <a:t>battuta</a:t>
            </a:r>
            <a:r>
              <a:rPr dirty="0"/>
              <a:t> media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contenuta</a:t>
            </a:r>
            <a:r>
              <a:rPr dirty="0"/>
              <a:t>.</a:t>
            </a:r>
          </a:p>
        </p:txBody>
      </p:sp>
      <p:sp>
        <p:nvSpPr>
          <p:cNvPr id="8" name="Nicole (+13,28%), Sharon (+5,92%) e Ludovica (+0,48%) registrano la media pezzi per scontrino più alta, superando la media dello Store.…">
            <a:extLst>
              <a:ext uri="{FF2B5EF4-FFF2-40B4-BE49-F238E27FC236}">
                <a16:creationId xmlns:a16="http://schemas.microsoft.com/office/drawing/2014/main" id="{AB9435ED-5437-80BF-5BCD-4E84134A1AF2}"/>
              </a:ext>
            </a:extLst>
          </p:cNvPr>
          <p:cNvSpPr txBox="1"/>
          <p:nvPr/>
        </p:nvSpPr>
        <p:spPr>
          <a:xfrm>
            <a:off x="3937000" y="10875519"/>
            <a:ext cx="7457707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Giulia</a:t>
            </a:r>
            <a:r>
              <a:rPr dirty="0"/>
              <a:t> (+13,28%),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Sara</a:t>
            </a:r>
            <a:r>
              <a:rPr dirty="0"/>
              <a:t> (+</a:t>
            </a:r>
            <a:r>
              <a:rPr lang="it-IT" dirty="0"/>
              <a:t>2,79</a:t>
            </a:r>
            <a:r>
              <a:rPr dirty="0"/>
              <a:t>%) e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Francesca</a:t>
            </a:r>
            <a:r>
              <a:rPr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r>
              <a:rPr dirty="0"/>
              <a:t>(+0,48%) </a:t>
            </a:r>
            <a:r>
              <a:rPr dirty="0" err="1"/>
              <a:t>registrano</a:t>
            </a:r>
            <a:r>
              <a:rPr dirty="0"/>
              <a:t> la media </a:t>
            </a:r>
            <a:r>
              <a:rPr dirty="0" err="1"/>
              <a:t>pezzi</a:t>
            </a:r>
            <a:r>
              <a:rPr dirty="0"/>
              <a:t> per </a:t>
            </a:r>
            <a:r>
              <a:rPr dirty="0" err="1"/>
              <a:t>scontrino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, </a:t>
            </a:r>
            <a:r>
              <a:rPr dirty="0" err="1"/>
              <a:t>superando</a:t>
            </a:r>
            <a:r>
              <a:rPr dirty="0"/>
              <a:t> la media </a:t>
            </a:r>
            <a:r>
              <a:rPr dirty="0" err="1"/>
              <a:t>dello</a:t>
            </a:r>
            <a:r>
              <a:rPr dirty="0"/>
              <a:t> Store.</a:t>
            </a:r>
          </a:p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Marco</a:t>
            </a:r>
            <a:r>
              <a:rPr dirty="0"/>
              <a:t> (-10,47%) </a:t>
            </a:r>
            <a:r>
              <a:rPr dirty="0" err="1"/>
              <a:t>registra</a:t>
            </a:r>
            <a:r>
              <a:rPr dirty="0"/>
              <a:t> la quota minima con 1,69 </a:t>
            </a:r>
            <a:r>
              <a:rPr dirty="0" err="1"/>
              <a:t>pezzi</a:t>
            </a:r>
            <a:r>
              <a:rPr dirty="0"/>
              <a:t> per </a:t>
            </a:r>
            <a:r>
              <a:rPr dirty="0" err="1"/>
              <a:t>transazione</a:t>
            </a:r>
            <a:r>
              <a:rPr dirty="0"/>
              <a:t>.</a:t>
            </a:r>
          </a:p>
        </p:txBody>
      </p:sp>
      <p:graphicFrame>
        <p:nvGraphicFramePr>
          <p:cNvPr id="2" name="Grafico 1">
            <a:extLst>
              <a:ext uri="{FF2B5EF4-FFF2-40B4-BE49-F238E27FC236}">
                <a16:creationId xmlns:a16="http://schemas.microsoft.com/office/drawing/2014/main" id="{B88EC955-A906-D740-9756-EE7FDB8EC1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6289181"/>
              </p:ext>
            </p:extLst>
          </p:nvPr>
        </p:nvGraphicFramePr>
        <p:xfrm>
          <a:off x="4415249" y="-3241422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!!Grafico 6">
            <a:extLst>
              <a:ext uri="{FF2B5EF4-FFF2-40B4-BE49-F238E27FC236}">
                <a16:creationId xmlns:a16="http://schemas.microsoft.com/office/drawing/2014/main" id="{2583CE2A-98AF-1045-BEA6-D901ABDE98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030893"/>
              </p:ext>
            </p:extLst>
          </p:nvPr>
        </p:nvGraphicFramePr>
        <p:xfrm>
          <a:off x="4425853" y="7995519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!!Grafico 5">
            <a:extLst>
              <a:ext uri="{FF2B5EF4-FFF2-40B4-BE49-F238E27FC236}">
                <a16:creationId xmlns:a16="http://schemas.microsoft.com/office/drawing/2014/main" id="{E1ED5490-4B8C-E9A7-3428-24E99EE163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226248"/>
              </p:ext>
            </p:extLst>
          </p:nvPr>
        </p:nvGraphicFramePr>
        <p:xfrm>
          <a:off x="4507000" y="1355141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888511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6B7D-C65D-CECF-5057-48F01DFC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tangolo arrotondato">
            <a:extLst>
              <a:ext uri="{FF2B5EF4-FFF2-40B4-BE49-F238E27FC236}">
                <a16:creationId xmlns:a16="http://schemas.microsoft.com/office/drawing/2014/main" id="{15291296-164B-C624-01FD-463191BFE730}"/>
              </a:ext>
            </a:extLst>
          </p:cNvPr>
          <p:cNvSpPr/>
          <p:nvPr/>
        </p:nvSpPr>
        <p:spPr>
          <a:xfrm>
            <a:off x="4028537" y="995141"/>
            <a:ext cx="7450562" cy="3600000"/>
          </a:xfrm>
          <a:prstGeom prst="roundRect">
            <a:avLst>
              <a:gd name="adj" fmla="val 997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257" name="Rettangolo arrotondato">
            <a:extLst>
              <a:ext uri="{FF2B5EF4-FFF2-40B4-BE49-F238E27FC236}">
                <a16:creationId xmlns:a16="http://schemas.microsoft.com/office/drawing/2014/main" id="{A193CC82-A955-3C1A-1590-0702C9592684}"/>
              </a:ext>
            </a:extLst>
          </p:cNvPr>
          <p:cNvSpPr/>
          <p:nvPr/>
        </p:nvSpPr>
        <p:spPr>
          <a:xfrm>
            <a:off x="762000" y="378905"/>
            <a:ext cx="2617356" cy="5983324"/>
          </a:xfrm>
          <a:prstGeom prst="roundRect">
            <a:avLst>
              <a:gd name="adj" fmla="val 14955"/>
            </a:avLst>
          </a:prstGeom>
          <a:solidFill>
            <a:srgbClr val="FFFFFF"/>
          </a:solidFill>
          <a:ln w="19050">
            <a:solidFill>
              <a:srgbClr val="FFFFFF"/>
            </a:solidFill>
            <a:miter/>
          </a:ln>
          <a:effectLst>
            <a:outerShdw blurRad="254000" dist="248923" dir="36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Avenir Book"/>
            </a:endParaRPr>
          </a:p>
        </p:txBody>
      </p:sp>
      <p:sp>
        <p:nvSpPr>
          <p:cNvPr id="258" name="CATEGORIE">
            <a:extLst>
              <a:ext uri="{FF2B5EF4-FFF2-40B4-BE49-F238E27FC236}">
                <a16:creationId xmlns:a16="http://schemas.microsoft.com/office/drawing/2014/main" id="{96DF1720-0F49-9860-AA3E-A608DAB3712F}"/>
              </a:ext>
            </a:extLst>
          </p:cNvPr>
          <p:cNvSpPr txBox="1"/>
          <p:nvPr/>
        </p:nvSpPr>
        <p:spPr>
          <a:xfrm>
            <a:off x="762000" y="959365"/>
            <a:ext cx="2617356" cy="44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>
              <a:defRPr sz="20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CATEGORIE</a:t>
            </a:r>
          </a:p>
        </p:txBody>
      </p:sp>
      <p:sp>
        <p:nvSpPr>
          <p:cNvPr id="259" name="Vendite (€)">
            <a:hlinkClick r:id="rId3" action="ppaction://hlinksldjump"/>
            <a:extLst>
              <a:ext uri="{FF2B5EF4-FFF2-40B4-BE49-F238E27FC236}">
                <a16:creationId xmlns:a16="http://schemas.microsoft.com/office/drawing/2014/main" id="{FC6E6879-2A7D-38D9-477E-7569D09AA165}"/>
              </a:ext>
            </a:extLst>
          </p:cNvPr>
          <p:cNvSpPr/>
          <p:nvPr/>
        </p:nvSpPr>
        <p:spPr>
          <a:xfrm>
            <a:off x="925584" y="171776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 err="1"/>
              <a:t>Vendite</a:t>
            </a:r>
            <a:r>
              <a:rPr dirty="0"/>
              <a:t> (€)</a:t>
            </a:r>
          </a:p>
        </p:txBody>
      </p:sp>
      <p:sp>
        <p:nvSpPr>
          <p:cNvPr id="260" name="Scostamento Vs Target (%)">
            <a:hlinkClick r:id="rId4" action="ppaction://hlinksldjump"/>
            <a:extLst>
              <a:ext uri="{FF2B5EF4-FFF2-40B4-BE49-F238E27FC236}">
                <a16:creationId xmlns:a16="http://schemas.microsoft.com/office/drawing/2014/main" id="{F2FD8C6D-D891-C60C-A190-4561B0726533}"/>
              </a:ext>
            </a:extLst>
          </p:cNvPr>
          <p:cNvSpPr/>
          <p:nvPr/>
        </p:nvSpPr>
        <p:spPr>
          <a:xfrm>
            <a:off x="925583" y="2853574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Scostamento Vs Target (%)</a:t>
            </a:r>
          </a:p>
        </p:txBody>
      </p:sp>
      <p:sp>
        <p:nvSpPr>
          <p:cNvPr id="261" name="Scontrino Medio (€)">
            <a:hlinkClick r:id="rId5" action="ppaction://hlinksldjump"/>
            <a:extLst>
              <a:ext uri="{FF2B5EF4-FFF2-40B4-BE49-F238E27FC236}">
                <a16:creationId xmlns:a16="http://schemas.microsoft.com/office/drawing/2014/main" id="{F5F8C9E4-1492-ADB9-0AE1-3B5DCFEF5998}"/>
              </a:ext>
            </a:extLst>
          </p:cNvPr>
          <p:cNvSpPr/>
          <p:nvPr/>
        </p:nvSpPr>
        <p:spPr>
          <a:xfrm>
            <a:off x="925583" y="3989379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Scontrino Medio (€)</a:t>
            </a:r>
          </a:p>
        </p:txBody>
      </p:sp>
      <p:sp>
        <p:nvSpPr>
          <p:cNvPr id="262" name="UPT">
            <a:hlinkClick r:id="rId6" action="ppaction://hlinksldjump"/>
            <a:extLst>
              <a:ext uri="{FF2B5EF4-FFF2-40B4-BE49-F238E27FC236}">
                <a16:creationId xmlns:a16="http://schemas.microsoft.com/office/drawing/2014/main" id="{02C047B4-55AC-51DA-2A27-619983094F20}"/>
              </a:ext>
            </a:extLst>
          </p:cNvPr>
          <p:cNvSpPr/>
          <p:nvPr/>
        </p:nvSpPr>
        <p:spPr>
          <a:xfrm>
            <a:off x="1367991" y="5125184"/>
            <a:ext cx="2290187" cy="65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r="16200000" rotWithShape="0">
              <a:srgbClr val="000000">
                <a:alpha val="25038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UPT</a:t>
            </a:r>
          </a:p>
        </p:txBody>
      </p:sp>
      <p:sp>
        <p:nvSpPr>
          <p:cNvPr id="5" name="!!Rettangolo arrotondato.10">
            <a:extLst>
              <a:ext uri="{FF2B5EF4-FFF2-40B4-BE49-F238E27FC236}">
                <a16:creationId xmlns:a16="http://schemas.microsoft.com/office/drawing/2014/main" id="{DD75715B-E8C6-0746-A23C-C0FE522EA0BE}"/>
              </a:ext>
            </a:extLst>
          </p:cNvPr>
          <p:cNvSpPr/>
          <p:nvPr/>
        </p:nvSpPr>
        <p:spPr>
          <a:xfrm>
            <a:off x="3937000" y="4762500"/>
            <a:ext cx="7620000" cy="1587500"/>
          </a:xfrm>
          <a:prstGeom prst="roundRect">
            <a:avLst>
              <a:gd name="adj" fmla="val 23928"/>
            </a:avLst>
          </a:prstGeom>
          <a:solidFill>
            <a:srgbClr val="FFFFFF"/>
          </a:solidFill>
          <a:ln w="12700">
            <a:miter lim="400000"/>
          </a:ln>
          <a:effectLst>
            <a:outerShdw blurRad="254000" dist="248923" dir="2700000" rotWithShape="0">
              <a:srgbClr val="000000">
                <a:alpha val="25038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Futura Book BT"/>
                <a:ea typeface="Futura Book BT"/>
                <a:cs typeface="Futura Book BT"/>
                <a:sym typeface="Futura Book BT"/>
              </a:defRPr>
            </a:pPr>
            <a:endParaRPr/>
          </a:p>
        </p:txBody>
      </p:sp>
      <p:sp>
        <p:nvSpPr>
          <p:cNvPr id="6" name="Nicole (+17,00%) e Sharon (+5,92%) registrano gli scontrini medi più alti, superando la media dello Store.…">
            <a:extLst>
              <a:ext uri="{FF2B5EF4-FFF2-40B4-BE49-F238E27FC236}">
                <a16:creationId xmlns:a16="http://schemas.microsoft.com/office/drawing/2014/main" id="{B877CFB2-12A2-C176-FCA3-D5AA03F5F47D}"/>
              </a:ext>
            </a:extLst>
          </p:cNvPr>
          <p:cNvSpPr txBox="1"/>
          <p:nvPr/>
        </p:nvSpPr>
        <p:spPr>
          <a:xfrm>
            <a:off x="4028537" y="-1723164"/>
            <a:ext cx="7620001" cy="158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Giulia</a:t>
            </a:r>
            <a:r>
              <a:rPr dirty="0"/>
              <a:t> (+17,00%) e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Sara</a:t>
            </a:r>
            <a:r>
              <a:rPr dirty="0"/>
              <a:t> (+5,92%) </a:t>
            </a:r>
            <a:r>
              <a:rPr dirty="0" err="1"/>
              <a:t>registrano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scontrini</a:t>
            </a:r>
            <a:r>
              <a:rPr dirty="0"/>
              <a:t> </a:t>
            </a:r>
            <a:r>
              <a:rPr dirty="0" err="1"/>
              <a:t>medi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alti, </a:t>
            </a:r>
            <a:r>
              <a:rPr dirty="0" err="1"/>
              <a:t>superando</a:t>
            </a:r>
            <a:r>
              <a:rPr dirty="0"/>
              <a:t> la media </a:t>
            </a:r>
            <a:r>
              <a:rPr dirty="0" err="1"/>
              <a:t>dello</a:t>
            </a:r>
            <a:r>
              <a:rPr dirty="0"/>
              <a:t> Store.</a:t>
            </a:r>
          </a:p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Marco</a:t>
            </a:r>
            <a:r>
              <a:rPr dirty="0"/>
              <a:t> (-12,09%)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la </a:t>
            </a:r>
            <a:r>
              <a:rPr dirty="0" err="1"/>
              <a:t>battuta</a:t>
            </a:r>
            <a:r>
              <a:rPr dirty="0"/>
              <a:t> media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contenuta</a:t>
            </a:r>
            <a:r>
              <a:rPr dirty="0"/>
              <a:t>.</a:t>
            </a:r>
          </a:p>
        </p:txBody>
      </p:sp>
      <p:sp>
        <p:nvSpPr>
          <p:cNvPr id="11" name="Nicole (+13,28%), Sharon (+5,92%) e Ludovica (+0,48%) registrano la media pezzi per scontrino più alta, superando la media dello Store.…">
            <a:extLst>
              <a:ext uri="{FF2B5EF4-FFF2-40B4-BE49-F238E27FC236}">
                <a16:creationId xmlns:a16="http://schemas.microsoft.com/office/drawing/2014/main" id="{617BFF3C-6A7C-F29E-B3BC-83508C51B2BF}"/>
              </a:ext>
            </a:extLst>
          </p:cNvPr>
          <p:cNvSpPr txBox="1"/>
          <p:nvPr/>
        </p:nvSpPr>
        <p:spPr>
          <a:xfrm>
            <a:off x="4099294" y="4762500"/>
            <a:ext cx="7457707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Giulia</a:t>
            </a:r>
            <a:r>
              <a:rPr dirty="0"/>
              <a:t> (+13,28%),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Sara</a:t>
            </a:r>
            <a:r>
              <a:rPr dirty="0"/>
              <a:t> (+</a:t>
            </a:r>
            <a:r>
              <a:rPr lang="it-IT" dirty="0"/>
              <a:t>2,79</a:t>
            </a:r>
            <a:r>
              <a:rPr dirty="0"/>
              <a:t>%) e </a:t>
            </a: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Francesca</a:t>
            </a:r>
            <a:r>
              <a:rPr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r>
              <a:rPr dirty="0"/>
              <a:t>(+0,48%) </a:t>
            </a:r>
            <a:r>
              <a:rPr dirty="0" err="1"/>
              <a:t>registrano</a:t>
            </a:r>
            <a:r>
              <a:rPr dirty="0"/>
              <a:t> la media </a:t>
            </a:r>
            <a:r>
              <a:rPr dirty="0" err="1"/>
              <a:t>pezzi</a:t>
            </a:r>
            <a:r>
              <a:rPr dirty="0"/>
              <a:t> per </a:t>
            </a:r>
            <a:r>
              <a:rPr dirty="0" err="1"/>
              <a:t>scontrino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, </a:t>
            </a:r>
            <a:r>
              <a:rPr dirty="0" err="1"/>
              <a:t>superando</a:t>
            </a:r>
            <a:r>
              <a:rPr dirty="0"/>
              <a:t> la media </a:t>
            </a:r>
            <a:r>
              <a:rPr dirty="0" err="1"/>
              <a:t>dello</a:t>
            </a:r>
            <a:r>
              <a:rPr dirty="0"/>
              <a:t> Store.</a:t>
            </a:r>
          </a:p>
          <a:p>
            <a:pPr>
              <a:lnSpc>
                <a:spcPct val="120000"/>
              </a:lnSpc>
              <a:defRPr sz="1600">
                <a:solidFill>
                  <a:srgbClr val="8080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it-IT" i="1" dirty="0">
                <a:latin typeface="Avenir Next Medium"/>
                <a:ea typeface="Avenir Next Medium"/>
                <a:cs typeface="Avenir Next Medium"/>
                <a:sym typeface="Avenir Next Medium"/>
              </a:rPr>
              <a:t>Marco</a:t>
            </a:r>
            <a:r>
              <a:rPr dirty="0"/>
              <a:t> (-10,47%) </a:t>
            </a:r>
            <a:r>
              <a:rPr dirty="0" err="1"/>
              <a:t>registra</a:t>
            </a:r>
            <a:r>
              <a:rPr dirty="0"/>
              <a:t> la quota minima con 1,69 </a:t>
            </a:r>
            <a:r>
              <a:rPr dirty="0" err="1"/>
              <a:t>pezzi</a:t>
            </a:r>
            <a:r>
              <a:rPr dirty="0"/>
              <a:t> per </a:t>
            </a:r>
            <a:r>
              <a:rPr dirty="0" err="1"/>
              <a:t>transazione</a:t>
            </a:r>
            <a:r>
              <a:rPr dirty="0"/>
              <a:t>.</a:t>
            </a:r>
          </a:p>
        </p:txBody>
      </p:sp>
      <p:graphicFrame>
        <p:nvGraphicFramePr>
          <p:cNvPr id="2" name="!!Grafico 5">
            <a:extLst>
              <a:ext uri="{FF2B5EF4-FFF2-40B4-BE49-F238E27FC236}">
                <a16:creationId xmlns:a16="http://schemas.microsoft.com/office/drawing/2014/main" id="{1CD6F16D-A7AA-01EC-CEF3-71AF43019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591121"/>
              </p:ext>
            </p:extLst>
          </p:nvPr>
        </p:nvGraphicFramePr>
        <p:xfrm>
          <a:off x="4156090" y="-4401322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!!Grafico 6">
            <a:extLst>
              <a:ext uri="{FF2B5EF4-FFF2-40B4-BE49-F238E27FC236}">
                <a16:creationId xmlns:a16="http://schemas.microsoft.com/office/drawing/2014/main" id="{0A0E13F1-D74E-809E-0C96-E2B8F04803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665619"/>
              </p:ext>
            </p:extLst>
          </p:nvPr>
        </p:nvGraphicFramePr>
        <p:xfrm>
          <a:off x="4588147" y="1355141"/>
          <a:ext cx="64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69011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890</Words>
  <Application>Microsoft Macintosh PowerPoint</Application>
  <PresentationFormat>Widescreen</PresentationFormat>
  <Paragraphs>190</Paragraphs>
  <Slides>11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Book</vt:lpstr>
      <vt:lpstr>Avenir Next Medium</vt:lpstr>
      <vt:lpstr>Avenir Next Regular</vt:lpstr>
      <vt:lpstr>Tema di Office</vt:lpstr>
      <vt:lpstr>OCTUPUS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OCTUPUS</dc:title>
  <cp:lastModifiedBy>Sharon Spadoni Herrera - sharon.spadoni@studio.unibo.it</cp:lastModifiedBy>
  <cp:revision>14</cp:revision>
  <dcterms:modified xsi:type="dcterms:W3CDTF">2026-09-02T11:02:58Z</dcterms:modified>
</cp:coreProperties>
</file>